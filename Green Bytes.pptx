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8" r:id="rId2"/>
    <p:sldId id="266" r:id="rId3"/>
    <p:sldId id="260" r:id="rId4"/>
    <p:sldId id="261" r:id="rId5"/>
    <p:sldId id="262" r:id="rId6"/>
    <p:sldId id="263" r:id="rId7"/>
    <p:sldId id="267" r:id="rId8"/>
    <p:sldId id="268" r:id="rId9"/>
  </p:sldIdLst>
  <p:sldSz cx="18288000" cy="10287000"/>
  <p:notesSz cx="6858000" cy="9144000"/>
  <p:embeddedFontLst>
    <p:embeddedFont>
      <p:font typeface="Lora" pitchFamily="2" charset="0"/>
      <p:regular r:id="rId11"/>
      <p:bold r:id="rId12"/>
      <p:italic r:id="rId13"/>
      <p:boldItalic r:id="rId14"/>
    </p:embeddedFont>
    <p:embeddedFont>
      <p:font typeface="Petrona Light" panose="020B0604020202020204" charset="0"/>
      <p:regular r:id="rId15"/>
      <p:bold r:id="rId16"/>
      <p:italic r:id="rId17"/>
      <p:boldItalic r:id="rId18"/>
    </p:embeddedFont>
    <p:embeddedFont>
      <p:font typeface="Quattrocento" panose="02020502030000000404" pitchFamily="18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DQCx4K1thgFdhC0GKK17guP5N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09BC57-8F83-4F75-B8EB-94BB90BC86A3}" v="5" dt="2026-09-27T16:34:47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8" Type="http://customschemas.google.com/relationships/presentationmetadata" Target="meta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15" name="Google Shape;115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19" name="Google Shape;119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51" name="Google Shape;151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2" name="Google Shape;152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3" name="Google Shape;153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55" name="Google Shape;155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69" name="Google Shape;169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0" name="Google Shape;170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73" name="Google Shape;173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87" name="Google Shape;187;p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9" name="Google Shape;189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91" name="Google Shape;191;p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05" name="Google Shape;205;p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6" name="Google Shape;206;p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09" name="Google Shape;209;p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2"/>
          <p:cNvCxnSpPr>
            <a:cxnSpLocks/>
          </p:cNvCxnSpPr>
          <p:nvPr/>
        </p:nvCxnSpPr>
        <p:spPr>
          <a:xfrm>
            <a:off x="11297" y="779516"/>
            <a:ext cx="1834893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p2"/>
          <p:cNvSpPr/>
          <p:nvPr/>
        </p:nvSpPr>
        <p:spPr>
          <a:xfrm>
            <a:off x="1939505" y="354555"/>
            <a:ext cx="811816" cy="811816"/>
          </a:xfrm>
          <a:custGeom>
            <a:avLst/>
            <a:gdLst/>
            <a:ahLst/>
            <a:cxnLst/>
            <a:rect l="l" t="t" r="r" b="b"/>
            <a:pathLst>
              <a:path w="1082421" h="1082421" extrusionOk="0">
                <a:moveTo>
                  <a:pt x="0" y="541147"/>
                </a:moveTo>
                <a:cubicBezTo>
                  <a:pt x="0" y="242316"/>
                  <a:pt x="242316" y="0"/>
                  <a:pt x="541147" y="0"/>
                </a:cubicBezTo>
                <a:cubicBezTo>
                  <a:pt x="839978" y="0"/>
                  <a:pt x="1082421" y="242316"/>
                  <a:pt x="1082421" y="541147"/>
                </a:cubicBezTo>
                <a:cubicBezTo>
                  <a:pt x="1082421" y="839978"/>
                  <a:pt x="840105" y="1082421"/>
                  <a:pt x="541147" y="1082421"/>
                </a:cubicBezTo>
                <a:cubicBezTo>
                  <a:pt x="242189" y="1082421"/>
                  <a:pt x="0" y="840105"/>
                  <a:pt x="0" y="541147"/>
                </a:cubicBezTo>
                <a:close/>
              </a:path>
            </a:pathLst>
          </a:custGeom>
          <a:solidFill>
            <a:srgbClr val="331656">
              <a:alpha val="5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3" name="Google Shape;123;p2"/>
          <p:cNvCxnSpPr>
            <a:cxnSpLocks/>
          </p:cNvCxnSpPr>
          <p:nvPr/>
        </p:nvCxnSpPr>
        <p:spPr>
          <a:xfrm>
            <a:off x="10263786" y="760463"/>
            <a:ext cx="8186446" cy="19053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5" name="Google Shape;125;p2"/>
          <p:cNvGrpSpPr/>
          <p:nvPr/>
        </p:nvGrpSpPr>
        <p:grpSpPr>
          <a:xfrm>
            <a:off x="3107506" y="288515"/>
            <a:ext cx="9275400" cy="871204"/>
            <a:chOff x="0" y="0"/>
            <a:chExt cx="12367200" cy="1161606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2367200" cy="1161600"/>
            </a:xfrm>
            <a:custGeom>
              <a:avLst/>
              <a:gdLst/>
              <a:ahLst/>
              <a:cxnLst/>
              <a:rect l="l" t="t" r="r" b="b"/>
              <a:pathLst>
                <a:path w="12367200" h="1161600" extrusionOk="0">
                  <a:moveTo>
                    <a:pt x="0" y="0"/>
                  </a:moveTo>
                  <a:lnTo>
                    <a:pt x="12367200" y="0"/>
                  </a:lnTo>
                  <a:lnTo>
                    <a:pt x="12367200" y="1161600"/>
                  </a:lnTo>
                  <a:lnTo>
                    <a:pt x="0" y="1161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57452" b="-157452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0" y="0"/>
              <a:ext cx="12367196" cy="1161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 i="0" u="none" strike="noStrike" cap="none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Domain and Problem Statement </a:t>
              </a:r>
              <a:endParaRPr sz="1800" dirty="0"/>
            </a:p>
          </p:txBody>
        </p:sp>
      </p:grpSp>
      <p:sp>
        <p:nvSpPr>
          <p:cNvPr id="128" name="Google Shape;128;p2"/>
          <p:cNvSpPr/>
          <p:nvPr/>
        </p:nvSpPr>
        <p:spPr>
          <a:xfrm>
            <a:off x="2126138" y="541188"/>
            <a:ext cx="438550" cy="438550"/>
          </a:xfrm>
          <a:custGeom>
            <a:avLst/>
            <a:gdLst/>
            <a:ahLst/>
            <a:cxnLst/>
            <a:rect l="l" t="t" r="r" b="b"/>
            <a:pathLst>
              <a:path w="438550" h="438550" extrusionOk="0">
                <a:moveTo>
                  <a:pt x="0" y="0"/>
                </a:moveTo>
                <a:lnTo>
                  <a:pt x="438550" y="0"/>
                </a:lnTo>
                <a:lnTo>
                  <a:pt x="438550" y="438550"/>
                </a:lnTo>
                <a:lnTo>
                  <a:pt x="0" y="43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9" name="Google Shape;129;p2"/>
          <p:cNvSpPr/>
          <p:nvPr/>
        </p:nvSpPr>
        <p:spPr>
          <a:xfrm>
            <a:off x="0" y="9602744"/>
            <a:ext cx="18288000" cy="700107"/>
          </a:xfrm>
          <a:custGeom>
            <a:avLst/>
            <a:gdLst/>
            <a:ahLst/>
            <a:cxnLst/>
            <a:rect l="l" t="t" r="r" b="b"/>
            <a:pathLst>
              <a:path w="24384000" h="1161542" extrusionOk="0">
                <a:moveTo>
                  <a:pt x="0" y="0"/>
                </a:moveTo>
                <a:lnTo>
                  <a:pt x="24384000" y="0"/>
                </a:lnTo>
                <a:lnTo>
                  <a:pt x="24384000" y="1161542"/>
                </a:lnTo>
                <a:lnTo>
                  <a:pt x="0" y="1161542"/>
                </a:lnTo>
                <a:close/>
              </a:path>
            </a:pathLst>
          </a:custGeom>
          <a:solidFill>
            <a:srgbClr val="331656">
              <a:alpha val="85880"/>
            </a:srgbClr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30" name="Google Shape;130;p2"/>
          <p:cNvSpPr txBox="1"/>
          <p:nvPr/>
        </p:nvSpPr>
        <p:spPr>
          <a:xfrm>
            <a:off x="16891355" y="9609598"/>
            <a:ext cx="9147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F75CE-1858-CEFA-F7FA-13295D4CC74A}"/>
              </a:ext>
            </a:extLst>
          </p:cNvPr>
          <p:cNvSpPr txBox="1"/>
          <p:nvPr/>
        </p:nvSpPr>
        <p:spPr>
          <a:xfrm>
            <a:off x="285226" y="1309108"/>
            <a:ext cx="92398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DOMAIN</a:t>
            </a:r>
            <a:r>
              <a:rPr lang="en-IN" sz="3200" dirty="0"/>
              <a:t>: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12CF5F-E040-07DB-BB60-C072E5E71474}"/>
              </a:ext>
            </a:extLst>
          </p:cNvPr>
          <p:cNvSpPr txBox="1"/>
          <p:nvPr/>
        </p:nvSpPr>
        <p:spPr>
          <a:xfrm>
            <a:off x="285226" y="1828321"/>
            <a:ext cx="170146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Problem:</a:t>
            </a:r>
            <a:br>
              <a:rPr lang="en-IN" sz="2800" dirty="0"/>
            </a:br>
            <a:r>
              <a:rPr lang="en-IN" sz="2800" dirty="0"/>
              <a:t>Elderly and low-literacy patients , children  often struggle to manage medicines safely and independently</a:t>
            </a:r>
            <a:r>
              <a:rPr lang="en-IN" dirty="0"/>
              <a:t>.</a:t>
            </a:r>
          </a:p>
          <a:p>
            <a:endParaRPr lang="en-IN" dirty="0"/>
          </a:p>
          <a:p>
            <a:pPr lvl="0"/>
            <a:endParaRPr lang="en-IN" sz="2800" dirty="0"/>
          </a:p>
          <a:p>
            <a:pPr lvl="0"/>
            <a:endParaRPr lang="en-IN" sz="2800" dirty="0"/>
          </a:p>
          <a:p>
            <a:endParaRPr lang="en-IN" dirty="0"/>
          </a:p>
        </p:txBody>
      </p:sp>
      <p:sp>
        <p:nvSpPr>
          <p:cNvPr id="9" name="Rounded Rectangle 113">
            <a:extLst>
              <a:ext uri="{FF2B5EF4-FFF2-40B4-BE49-F238E27FC236}">
                <a16:creationId xmlns:a16="http://schemas.microsoft.com/office/drawing/2014/main" id="{15051A03-418D-EC27-B17E-684C2088F97B}"/>
              </a:ext>
            </a:extLst>
          </p:cNvPr>
          <p:cNvSpPr/>
          <p:nvPr/>
        </p:nvSpPr>
        <p:spPr>
          <a:xfrm>
            <a:off x="2367536" y="1294123"/>
            <a:ext cx="4049059" cy="681208"/>
          </a:xfrm>
          <a:prstGeom prst="roundRect">
            <a:avLst/>
          </a:prstGeom>
          <a:solidFill>
            <a:srgbClr val="563B78"/>
          </a:solidFill>
          <a:ln>
            <a:solidFill>
              <a:srgbClr val="563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51405E-B450-8469-2540-5979B4DC7BEC}"/>
              </a:ext>
            </a:extLst>
          </p:cNvPr>
          <p:cNvSpPr txBox="1"/>
          <p:nvPr/>
        </p:nvSpPr>
        <p:spPr>
          <a:xfrm>
            <a:off x="2496514" y="1450061"/>
            <a:ext cx="3791102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Aptos"/>
              </a:rPr>
              <a:t>HEALTHCARE &amp; WELLNESS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E030155-61B4-D11B-9FA1-143D26F4EC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412" y="8397390"/>
            <a:ext cx="9503868" cy="118131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4F09902-8D71-0409-39F3-06A105D883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868198"/>
            <a:ext cx="9925665" cy="550514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48E9496-F1F9-1F0C-A4F7-4784FB1221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3786" y="2878072"/>
            <a:ext cx="7738988" cy="47662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cdc6fde-6afb-4f28-99e4-cc96f438f5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8287999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1730" y="2201809"/>
            <a:ext cx="17192362" cy="69655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" name="TextBox 3"/>
          <p:cNvSpPr txBox="1"/>
          <p:nvPr/>
        </p:nvSpPr>
        <p:spPr>
          <a:xfrm>
            <a:off x="692658" y="1198476"/>
            <a:ext cx="10972800" cy="15850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b="1" dirty="0" err="1">
                <a:solidFill>
                  <a:schemeClr val="accent4">
                    <a:lumMod val="75000"/>
                  </a:schemeClr>
                </a:solidFill>
              </a:rPr>
              <a:t>MedSathi</a:t>
            </a:r>
            <a:r>
              <a:rPr lang="en-IN" sz="2400" b="1" dirty="0">
                <a:solidFill>
                  <a:schemeClr val="accent4">
                    <a:lumMod val="75000"/>
                  </a:schemeClr>
                </a:solidFill>
              </a:rPr>
              <a:t> is a voice-first AI companion that guides, verifies, and records every step of a patient’s medication routine</a:t>
            </a:r>
            <a:r>
              <a:rPr lang="en-IN" sz="28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sz="2550" b="1" dirty="0">
                <a:solidFill>
                  <a:srgbClr val="533974"/>
                </a:solidFill>
                <a:latin typeface="Aptos"/>
              </a:rPr>
              <a:t>A caregiver-configured AI companion that guides the patient through the COMPLETE medication event.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919" y="3512642"/>
            <a:ext cx="3497580" cy="3223260"/>
          </a:xfrm>
          <a:prstGeom prst="roundRect">
            <a:avLst/>
          </a:prstGeom>
          <a:solidFill>
            <a:srgbClr val="F2EDF8"/>
          </a:solidFill>
          <a:ln>
            <a:solidFill>
              <a:srgbClr val="F2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6" name="Oval 5"/>
          <p:cNvSpPr/>
          <p:nvPr/>
        </p:nvSpPr>
        <p:spPr>
          <a:xfrm>
            <a:off x="1304106" y="4039998"/>
            <a:ext cx="589788" cy="589788"/>
          </a:xfrm>
          <a:prstGeom prst="ellipse">
            <a:avLst/>
          </a:prstGeom>
          <a:solidFill>
            <a:srgbClr val="533974"/>
          </a:solidFill>
          <a:ln>
            <a:solidFill>
              <a:srgbClr val="533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1297" y="3319272"/>
            <a:ext cx="16350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3164" y="4078267"/>
            <a:ext cx="1926810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533974"/>
                </a:solidFill>
                <a:latin typeface="Aptos"/>
              </a:rPr>
              <a:t>CAREGIVER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2761" y="5130569"/>
            <a:ext cx="2300310" cy="1107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dirty="0">
                <a:solidFill>
                  <a:srgbClr val="28252B"/>
                </a:solidFill>
                <a:latin typeface="Aptos"/>
              </a:rPr>
              <a:t>Sets medicine,
dosage, timing &amp;
reference 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9359" y="3586904"/>
            <a:ext cx="3497580" cy="3223260"/>
          </a:xfrm>
          <a:prstGeom prst="roundRect">
            <a:avLst/>
          </a:prstGeom>
          <a:solidFill>
            <a:srgbClr val="E7F7F4"/>
          </a:solidFill>
          <a:ln>
            <a:solidFill>
              <a:srgbClr val="E7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1" name="Oval 10"/>
          <p:cNvSpPr/>
          <p:nvPr/>
        </p:nvSpPr>
        <p:spPr>
          <a:xfrm>
            <a:off x="5589270" y="4037343"/>
            <a:ext cx="589788" cy="589788"/>
          </a:xfrm>
          <a:prstGeom prst="ellipse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2" name="TextBox 11"/>
          <p:cNvSpPr txBox="1"/>
          <p:nvPr/>
        </p:nvSpPr>
        <p:spPr>
          <a:xfrm>
            <a:off x="5840984" y="4235905"/>
            <a:ext cx="136256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IN" sz="2000" b="1" dirty="0">
                <a:solidFill>
                  <a:srgbClr val="FFFFFF"/>
                </a:solidFill>
                <a:latin typeface="Aptos"/>
              </a:rPr>
              <a:t>2</a:t>
            </a:r>
            <a:endParaRPr sz="2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58330" y="4108617"/>
            <a:ext cx="173925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897B"/>
                </a:solidFill>
                <a:latin typeface="Aptos"/>
              </a:rPr>
              <a:t>MEDSATHI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1499" y="5177359"/>
            <a:ext cx="1774525" cy="1107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dirty="0">
                <a:solidFill>
                  <a:srgbClr val="28252B"/>
                </a:solidFill>
                <a:latin typeface="Aptos"/>
              </a:rPr>
              <a:t>Understands
context using
voice +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9868" y="3503938"/>
            <a:ext cx="3497580" cy="3223260"/>
          </a:xfrm>
          <a:prstGeom prst="roundRect">
            <a:avLst/>
          </a:prstGeom>
          <a:solidFill>
            <a:srgbClr val="F2EDF8"/>
          </a:solidFill>
          <a:ln>
            <a:solidFill>
              <a:srgbClr val="F2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6" name="Oval 15"/>
          <p:cNvSpPr/>
          <p:nvPr/>
        </p:nvSpPr>
        <p:spPr>
          <a:xfrm>
            <a:off x="9711733" y="4088413"/>
            <a:ext cx="589788" cy="589788"/>
          </a:xfrm>
          <a:prstGeom prst="ellipse">
            <a:avLst/>
          </a:prstGeom>
          <a:solidFill>
            <a:srgbClr val="533974"/>
          </a:solidFill>
          <a:ln>
            <a:solidFill>
              <a:srgbClr val="533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 dirty="0"/>
          </a:p>
        </p:txBody>
      </p:sp>
      <p:sp>
        <p:nvSpPr>
          <p:cNvPr id="17" name="TextBox 16"/>
          <p:cNvSpPr txBox="1"/>
          <p:nvPr/>
        </p:nvSpPr>
        <p:spPr>
          <a:xfrm>
            <a:off x="9806558" y="4266683"/>
            <a:ext cx="34992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82853" y="4097077"/>
            <a:ext cx="1569340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 dirty="0">
                <a:solidFill>
                  <a:srgbClr val="533974"/>
                </a:solidFill>
                <a:latin typeface="Aptos"/>
              </a:rPr>
              <a:t>PATIENT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6627" y="5150602"/>
            <a:ext cx="2353209" cy="1107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dirty="0">
                <a:solidFill>
                  <a:srgbClr val="28252B"/>
                </a:solidFill>
                <a:latin typeface="Aptos"/>
              </a:rPr>
              <a:t>Shows medicine /
tablet → receives
simple guidance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606754" y="3411605"/>
            <a:ext cx="3497580" cy="3223260"/>
          </a:xfrm>
          <a:prstGeom prst="roundRect">
            <a:avLst/>
          </a:prstGeom>
          <a:solidFill>
            <a:srgbClr val="FFF6E4"/>
          </a:solidFill>
          <a:ln>
            <a:solidFill>
              <a:srgbClr val="FF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1" name="Oval 20"/>
          <p:cNvSpPr/>
          <p:nvPr/>
        </p:nvSpPr>
        <p:spPr>
          <a:xfrm>
            <a:off x="14028310" y="4029167"/>
            <a:ext cx="589788" cy="589788"/>
          </a:xfrm>
          <a:prstGeom prst="ellipse">
            <a:avLst/>
          </a:prstGeom>
          <a:solidFill>
            <a:srgbClr val="F5B14C"/>
          </a:solidFill>
          <a:ln>
            <a:solidFill>
              <a:srgbClr val="F5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2" name="TextBox 21"/>
          <p:cNvSpPr txBox="1"/>
          <p:nvPr/>
        </p:nvSpPr>
        <p:spPr>
          <a:xfrm>
            <a:off x="14143763" y="4163639"/>
            <a:ext cx="39213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39153" y="4078267"/>
            <a:ext cx="1926810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F5B14C"/>
                </a:solidFill>
                <a:latin typeface="Aptos"/>
              </a:rPr>
              <a:t>CAREGIVER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154" y="5093589"/>
            <a:ext cx="1910779" cy="1107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dirty="0">
                <a:solidFill>
                  <a:srgbClr val="28252B"/>
                </a:solidFill>
                <a:latin typeface="Aptos"/>
              </a:rPr>
              <a:t>Dose logged →
status &amp; alerts
when needed</a:t>
            </a:r>
          </a:p>
        </p:txBody>
      </p:sp>
      <p:sp>
        <p:nvSpPr>
          <p:cNvPr id="25" name="Chevron 24"/>
          <p:cNvSpPr/>
          <p:nvPr/>
        </p:nvSpPr>
        <p:spPr>
          <a:xfrm>
            <a:off x="4594860" y="4142232"/>
            <a:ext cx="493776" cy="658368"/>
          </a:xfrm>
          <a:prstGeom prst="chevron">
            <a:avLst/>
          </a:prstGeom>
          <a:solidFill>
            <a:srgbClr val="533974"/>
          </a:solidFill>
          <a:ln>
            <a:solidFill>
              <a:srgbClr val="533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6" name="Chevron 25"/>
          <p:cNvSpPr/>
          <p:nvPr/>
        </p:nvSpPr>
        <p:spPr>
          <a:xfrm>
            <a:off x="8846820" y="4142232"/>
            <a:ext cx="493776" cy="658368"/>
          </a:xfrm>
          <a:prstGeom prst="chevron">
            <a:avLst/>
          </a:prstGeom>
          <a:solidFill>
            <a:srgbClr val="533974"/>
          </a:solidFill>
          <a:ln>
            <a:solidFill>
              <a:srgbClr val="533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7" name="Chevron 26"/>
          <p:cNvSpPr/>
          <p:nvPr/>
        </p:nvSpPr>
        <p:spPr>
          <a:xfrm>
            <a:off x="13098780" y="4142232"/>
            <a:ext cx="493776" cy="658368"/>
          </a:xfrm>
          <a:prstGeom prst="chevron">
            <a:avLst/>
          </a:prstGeom>
          <a:solidFill>
            <a:srgbClr val="533974"/>
          </a:solidFill>
          <a:ln>
            <a:solidFill>
              <a:srgbClr val="533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8" name="Rounded Rectangle 27"/>
          <p:cNvSpPr/>
          <p:nvPr/>
        </p:nvSpPr>
        <p:spPr>
          <a:xfrm>
            <a:off x="896984" y="7394599"/>
            <a:ext cx="16157448" cy="1577340"/>
          </a:xfrm>
          <a:prstGeom prst="roundRect">
            <a:avLst/>
          </a:prstGeom>
          <a:solidFill>
            <a:srgbClr val="F8F7F9"/>
          </a:solidFill>
          <a:ln>
            <a:solidFill>
              <a:srgbClr val="E0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9" name="TextBox 28"/>
          <p:cNvSpPr txBox="1"/>
          <p:nvPr/>
        </p:nvSpPr>
        <p:spPr>
          <a:xfrm>
            <a:off x="1461297" y="7586603"/>
            <a:ext cx="1437894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 dirty="0">
                <a:solidFill>
                  <a:srgbClr val="533974"/>
                </a:solidFill>
                <a:latin typeface="Aptos"/>
              </a:rPr>
              <a:t>THE SHIFT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63504" y="7586603"/>
            <a:ext cx="12362359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b="1" dirty="0">
                <a:solidFill>
                  <a:srgbClr val="28252B"/>
                </a:solidFill>
                <a:latin typeface="Aptos"/>
              </a:rPr>
              <a:t>Reminder  →  Guided action  →  Verified medicine  →  Confirmed dose  →  Caregiver visibility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4673" y="8288792"/>
            <a:ext cx="5967980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800" b="1" dirty="0">
                <a:solidFill>
                  <a:srgbClr val="00897B"/>
                </a:solidFill>
                <a:latin typeface="Aptos"/>
              </a:rPr>
              <a:t>“A reminder tells. </a:t>
            </a:r>
            <a:r>
              <a:rPr sz="2800" b="1" dirty="0" err="1">
                <a:solidFill>
                  <a:srgbClr val="00897B"/>
                </a:solidFill>
                <a:latin typeface="Aptos"/>
              </a:rPr>
              <a:t>MedSathi</a:t>
            </a:r>
            <a:r>
              <a:rPr sz="2800" b="1" dirty="0">
                <a:solidFill>
                  <a:srgbClr val="00897B"/>
                </a:solidFill>
                <a:latin typeface="Aptos"/>
              </a:rPr>
              <a:t> guides.”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96678" y="9738361"/>
            <a:ext cx="92974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50">
                <a:solidFill>
                  <a:srgbClr val="28252B"/>
                </a:solidFill>
                <a:latin typeface="Aptos"/>
              </a:rPr>
              <a:t>3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403A675-EEF4-C8D0-5568-33B91F67A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2193" y="307552"/>
            <a:ext cx="5035383" cy="277119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42B654E-4FD2-DEC6-4A6B-8CD28E49A645}"/>
              </a:ext>
            </a:extLst>
          </p:cNvPr>
          <p:cNvSpPr txBox="1"/>
          <p:nvPr/>
        </p:nvSpPr>
        <p:spPr>
          <a:xfrm>
            <a:off x="753376" y="2904168"/>
            <a:ext cx="130806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75000"/>
                  </a:schemeClr>
                </a:solidFill>
              </a:rPr>
              <a:t>From reminder to verified care — </a:t>
            </a:r>
            <a:r>
              <a:rPr lang="en-IN" sz="2400" b="1" dirty="0" err="1">
                <a:solidFill>
                  <a:schemeClr val="accent4">
                    <a:lumMod val="75000"/>
                  </a:schemeClr>
                </a:solidFill>
              </a:rPr>
              <a:t>MedSathi</a:t>
            </a:r>
            <a:r>
              <a:rPr lang="en-IN" sz="2400" b="1" dirty="0">
                <a:solidFill>
                  <a:schemeClr val="accent4">
                    <a:lumMod val="75000"/>
                  </a:schemeClr>
                </a:solidFill>
              </a:rPr>
              <a:t> guides every medication event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Google Shape;157;p4"/>
          <p:cNvCxnSpPr/>
          <p:nvPr/>
        </p:nvCxnSpPr>
        <p:spPr>
          <a:xfrm rot="23640">
            <a:off x="-723144" y="607719"/>
            <a:ext cx="2770718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" name="Google Shape;158;p4"/>
          <p:cNvSpPr/>
          <p:nvPr/>
        </p:nvSpPr>
        <p:spPr>
          <a:xfrm>
            <a:off x="2047542" y="184848"/>
            <a:ext cx="811816" cy="811816"/>
          </a:xfrm>
          <a:custGeom>
            <a:avLst/>
            <a:gdLst/>
            <a:ahLst/>
            <a:cxnLst/>
            <a:rect l="l" t="t" r="r" b="b"/>
            <a:pathLst>
              <a:path w="1082421" h="1082421" extrusionOk="0">
                <a:moveTo>
                  <a:pt x="0" y="541147"/>
                </a:moveTo>
                <a:cubicBezTo>
                  <a:pt x="0" y="242316"/>
                  <a:pt x="242316" y="0"/>
                  <a:pt x="541147" y="0"/>
                </a:cubicBezTo>
                <a:cubicBezTo>
                  <a:pt x="839978" y="0"/>
                  <a:pt x="1082421" y="242316"/>
                  <a:pt x="1082421" y="541147"/>
                </a:cubicBezTo>
                <a:cubicBezTo>
                  <a:pt x="1082421" y="839978"/>
                  <a:pt x="840105" y="1082421"/>
                  <a:pt x="541147" y="1082421"/>
                </a:cubicBezTo>
                <a:cubicBezTo>
                  <a:pt x="242189" y="1082421"/>
                  <a:pt x="0" y="840105"/>
                  <a:pt x="0" y="541147"/>
                </a:cubicBezTo>
                <a:close/>
              </a:path>
            </a:pathLst>
          </a:custGeom>
          <a:solidFill>
            <a:srgbClr val="331656">
              <a:alpha val="5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9" name="Google Shape;159;p4"/>
          <p:cNvCxnSpPr/>
          <p:nvPr/>
        </p:nvCxnSpPr>
        <p:spPr>
          <a:xfrm rot="8400">
            <a:off x="10639751" y="558114"/>
            <a:ext cx="7775877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61" name="Google Shape;161;p4"/>
          <p:cNvGrpSpPr/>
          <p:nvPr/>
        </p:nvGrpSpPr>
        <p:grpSpPr>
          <a:xfrm>
            <a:off x="2762498" y="125460"/>
            <a:ext cx="8081969" cy="2537963"/>
            <a:chOff x="0" y="-2222353"/>
            <a:chExt cx="10775958" cy="3383953"/>
          </a:xfrm>
        </p:grpSpPr>
        <p:sp>
          <p:nvSpPr>
            <p:cNvPr id="162" name="Google Shape;162;p4"/>
            <p:cNvSpPr/>
            <p:nvPr/>
          </p:nvSpPr>
          <p:spPr>
            <a:xfrm>
              <a:off x="0" y="0"/>
              <a:ext cx="10342400" cy="1161600"/>
            </a:xfrm>
            <a:custGeom>
              <a:avLst/>
              <a:gdLst/>
              <a:ahLst/>
              <a:cxnLst/>
              <a:rect l="l" t="t" r="r" b="b"/>
              <a:pathLst>
                <a:path w="10342400" h="1161600" extrusionOk="0">
                  <a:moveTo>
                    <a:pt x="0" y="0"/>
                  </a:moveTo>
                  <a:lnTo>
                    <a:pt x="10342400" y="0"/>
                  </a:lnTo>
                  <a:lnTo>
                    <a:pt x="10342400" y="1161600"/>
                  </a:lnTo>
                  <a:lnTo>
                    <a:pt x="0" y="1161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23491" b="-123491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433561" y="-2222353"/>
              <a:ext cx="10342397" cy="1161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Existing Vs Proposed System</a:t>
              </a:r>
              <a:endParaRPr dirty="0"/>
            </a:p>
          </p:txBody>
        </p:sp>
      </p:grpSp>
      <p:sp>
        <p:nvSpPr>
          <p:cNvPr id="164" name="Google Shape;164;p4"/>
          <p:cNvSpPr/>
          <p:nvPr/>
        </p:nvSpPr>
        <p:spPr>
          <a:xfrm>
            <a:off x="2275853" y="338839"/>
            <a:ext cx="438550" cy="438550"/>
          </a:xfrm>
          <a:custGeom>
            <a:avLst/>
            <a:gdLst/>
            <a:ahLst/>
            <a:cxnLst/>
            <a:rect l="l" t="t" r="r" b="b"/>
            <a:pathLst>
              <a:path w="438550" h="438550" extrusionOk="0">
                <a:moveTo>
                  <a:pt x="0" y="0"/>
                </a:moveTo>
                <a:lnTo>
                  <a:pt x="438550" y="0"/>
                </a:lnTo>
                <a:lnTo>
                  <a:pt x="438550" y="438550"/>
                </a:lnTo>
                <a:lnTo>
                  <a:pt x="0" y="43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5" name="Google Shape;165;p4"/>
          <p:cNvSpPr/>
          <p:nvPr/>
        </p:nvSpPr>
        <p:spPr>
          <a:xfrm>
            <a:off x="11297" y="9415501"/>
            <a:ext cx="18288000" cy="871156"/>
          </a:xfrm>
          <a:custGeom>
            <a:avLst/>
            <a:gdLst/>
            <a:ahLst/>
            <a:cxnLst/>
            <a:rect l="l" t="t" r="r" b="b"/>
            <a:pathLst>
              <a:path w="24384000" h="1161542" extrusionOk="0">
                <a:moveTo>
                  <a:pt x="0" y="0"/>
                </a:moveTo>
                <a:lnTo>
                  <a:pt x="24384000" y="0"/>
                </a:lnTo>
                <a:lnTo>
                  <a:pt x="24384000" y="1161542"/>
                </a:lnTo>
                <a:lnTo>
                  <a:pt x="0" y="1161542"/>
                </a:lnTo>
                <a:close/>
              </a:path>
            </a:pathLst>
          </a:custGeom>
          <a:solidFill>
            <a:srgbClr val="331656">
              <a:alpha val="85882"/>
            </a:srgb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6" name="Google Shape;166;p4"/>
          <p:cNvSpPr txBox="1"/>
          <p:nvPr/>
        </p:nvSpPr>
        <p:spPr>
          <a:xfrm>
            <a:off x="16919980" y="9609598"/>
            <a:ext cx="9147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BAC24F-C1BF-ED2E-4F32-C10F2C323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55866"/>
            <a:ext cx="18299297" cy="94717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" name="Google Shape;175;p5"/>
          <p:cNvCxnSpPr/>
          <p:nvPr/>
        </p:nvCxnSpPr>
        <p:spPr>
          <a:xfrm rot="23640">
            <a:off x="-9554" y="2258692"/>
            <a:ext cx="2770718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5"/>
          <p:cNvSpPr/>
          <p:nvPr/>
        </p:nvSpPr>
        <p:spPr>
          <a:xfrm>
            <a:off x="1634947" y="1857537"/>
            <a:ext cx="811816" cy="811816"/>
          </a:xfrm>
          <a:custGeom>
            <a:avLst/>
            <a:gdLst/>
            <a:ahLst/>
            <a:cxnLst/>
            <a:rect l="l" t="t" r="r" b="b"/>
            <a:pathLst>
              <a:path w="1082421" h="1082421" extrusionOk="0">
                <a:moveTo>
                  <a:pt x="0" y="541147"/>
                </a:moveTo>
                <a:cubicBezTo>
                  <a:pt x="0" y="242316"/>
                  <a:pt x="242316" y="0"/>
                  <a:pt x="541147" y="0"/>
                </a:cubicBezTo>
                <a:cubicBezTo>
                  <a:pt x="839978" y="0"/>
                  <a:pt x="1082421" y="242316"/>
                  <a:pt x="1082421" y="541147"/>
                </a:cubicBezTo>
                <a:cubicBezTo>
                  <a:pt x="1082421" y="839978"/>
                  <a:pt x="840105" y="1082421"/>
                  <a:pt x="541147" y="1082421"/>
                </a:cubicBezTo>
                <a:cubicBezTo>
                  <a:pt x="242189" y="1082421"/>
                  <a:pt x="0" y="840105"/>
                  <a:pt x="0" y="541147"/>
                </a:cubicBezTo>
                <a:close/>
              </a:path>
            </a:pathLst>
          </a:custGeom>
          <a:solidFill>
            <a:srgbClr val="331656">
              <a:alpha val="5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7" name="Google Shape;177;p5"/>
          <p:cNvCxnSpPr/>
          <p:nvPr/>
        </p:nvCxnSpPr>
        <p:spPr>
          <a:xfrm rot="8400">
            <a:off x="10521763" y="2258692"/>
            <a:ext cx="7775877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5"/>
          <p:cNvSpPr txBox="1"/>
          <p:nvPr/>
        </p:nvSpPr>
        <p:spPr>
          <a:xfrm>
            <a:off x="1828267" y="3678248"/>
            <a:ext cx="13436400" cy="1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001604" marR="0" lvl="1" indent="-500802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Petrona Light"/>
              <a:buChar char="•"/>
            </a:pPr>
            <a:r>
              <a:rPr lang="en-US" sz="2799" i="0" u="none" strike="noStrike" cap="none">
                <a:solidFill>
                  <a:srgbClr val="000000"/>
                </a:solidFill>
                <a:latin typeface="Petrona Light"/>
                <a:ea typeface="Petrona Light"/>
                <a:cs typeface="Petrona Light"/>
                <a:sym typeface="Petrona Light"/>
              </a:rPr>
              <a:t>Highlight the unique and innovative aspects of the proposed solution.</a:t>
            </a:r>
            <a:endParaRPr>
              <a:latin typeface="Petrona Light"/>
              <a:ea typeface="Petrona Light"/>
              <a:cs typeface="Petrona Light"/>
              <a:sym typeface="Petrona Light"/>
            </a:endParaRPr>
          </a:p>
          <a:p>
            <a:pPr marL="1717042" marR="0" lvl="1" indent="-858521" algn="l" rtl="0">
              <a:lnSpc>
                <a:spcPct val="23662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99" b="0" i="0" u="none" strike="noStrike" cap="none">
              <a:solidFill>
                <a:srgbClr val="000000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marL="1717042" marR="0" lvl="1" indent="-858521" algn="l" rtl="0">
              <a:lnSpc>
                <a:spcPct val="20575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99" b="0" i="0" u="none" strike="noStrike" cap="none">
              <a:solidFill>
                <a:srgbClr val="000000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grpSp>
        <p:nvGrpSpPr>
          <p:cNvPr id="179" name="Google Shape;179;p5"/>
          <p:cNvGrpSpPr/>
          <p:nvPr/>
        </p:nvGrpSpPr>
        <p:grpSpPr>
          <a:xfrm>
            <a:off x="2853928" y="1857537"/>
            <a:ext cx="7756800" cy="1454150"/>
            <a:chOff x="0" y="0"/>
            <a:chExt cx="10342400" cy="1938866"/>
          </a:xfrm>
        </p:grpSpPr>
        <p:sp>
          <p:nvSpPr>
            <p:cNvPr id="180" name="Google Shape;180;p5"/>
            <p:cNvSpPr/>
            <p:nvPr/>
          </p:nvSpPr>
          <p:spPr>
            <a:xfrm>
              <a:off x="0" y="0"/>
              <a:ext cx="10342400" cy="1938857"/>
            </a:xfrm>
            <a:custGeom>
              <a:avLst/>
              <a:gdLst/>
              <a:ahLst/>
              <a:cxnLst/>
              <a:rect l="l" t="t" r="r" b="b"/>
              <a:pathLst>
                <a:path w="10342400" h="1938857" extrusionOk="0">
                  <a:moveTo>
                    <a:pt x="0" y="0"/>
                  </a:moveTo>
                  <a:lnTo>
                    <a:pt x="10342400" y="0"/>
                  </a:lnTo>
                  <a:lnTo>
                    <a:pt x="10342400" y="1938857"/>
                  </a:lnTo>
                  <a:lnTo>
                    <a:pt x="0" y="193885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3980" b="-33894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0" y="0"/>
              <a:ext cx="10342397" cy="1938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Innovation &amp; USP</a:t>
              </a:r>
              <a:endParaRPr/>
            </a:p>
            <a:p>
              <a:pPr marL="0" marR="0" lvl="0" indent="0" algn="l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999" b="1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sp>
        <p:nvSpPr>
          <p:cNvPr id="182" name="Google Shape;182;p5"/>
          <p:cNvSpPr/>
          <p:nvPr/>
        </p:nvSpPr>
        <p:spPr>
          <a:xfrm>
            <a:off x="1828267" y="2034854"/>
            <a:ext cx="438550" cy="438550"/>
          </a:xfrm>
          <a:custGeom>
            <a:avLst/>
            <a:gdLst/>
            <a:ahLst/>
            <a:cxnLst/>
            <a:rect l="l" t="t" r="r" b="b"/>
            <a:pathLst>
              <a:path w="438550" h="438550" extrusionOk="0">
                <a:moveTo>
                  <a:pt x="0" y="0"/>
                </a:moveTo>
                <a:lnTo>
                  <a:pt x="438550" y="0"/>
                </a:lnTo>
                <a:lnTo>
                  <a:pt x="438550" y="438550"/>
                </a:lnTo>
                <a:lnTo>
                  <a:pt x="0" y="43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3" name="Google Shape;183;p5"/>
          <p:cNvSpPr/>
          <p:nvPr/>
        </p:nvSpPr>
        <p:spPr>
          <a:xfrm>
            <a:off x="11297" y="9415501"/>
            <a:ext cx="18288000" cy="871156"/>
          </a:xfrm>
          <a:custGeom>
            <a:avLst/>
            <a:gdLst/>
            <a:ahLst/>
            <a:cxnLst/>
            <a:rect l="l" t="t" r="r" b="b"/>
            <a:pathLst>
              <a:path w="24384000" h="1161542" extrusionOk="0">
                <a:moveTo>
                  <a:pt x="0" y="0"/>
                </a:moveTo>
                <a:lnTo>
                  <a:pt x="24384000" y="0"/>
                </a:lnTo>
                <a:lnTo>
                  <a:pt x="24384000" y="1161542"/>
                </a:lnTo>
                <a:lnTo>
                  <a:pt x="0" y="1161542"/>
                </a:lnTo>
                <a:close/>
              </a:path>
            </a:pathLst>
          </a:custGeom>
          <a:solidFill>
            <a:srgbClr val="331656">
              <a:alpha val="85882"/>
            </a:srgb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4" name="Google Shape;184;p5"/>
          <p:cNvSpPr txBox="1"/>
          <p:nvPr/>
        </p:nvSpPr>
        <p:spPr>
          <a:xfrm>
            <a:off x="16920005" y="9609598"/>
            <a:ext cx="9147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5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6CEE74-E9AA-0D24-FE29-A0C68585A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7" y="0"/>
            <a:ext cx="18394690" cy="103361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Google Shape;193;p6"/>
          <p:cNvCxnSpPr/>
          <p:nvPr/>
        </p:nvCxnSpPr>
        <p:spPr>
          <a:xfrm rot="23640">
            <a:off x="-9554" y="2258692"/>
            <a:ext cx="2770718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" name="Google Shape;194;p6"/>
          <p:cNvSpPr/>
          <p:nvPr/>
        </p:nvSpPr>
        <p:spPr>
          <a:xfrm>
            <a:off x="1634947" y="1857537"/>
            <a:ext cx="811816" cy="811816"/>
          </a:xfrm>
          <a:custGeom>
            <a:avLst/>
            <a:gdLst/>
            <a:ahLst/>
            <a:cxnLst/>
            <a:rect l="l" t="t" r="r" b="b"/>
            <a:pathLst>
              <a:path w="1082421" h="1082421" extrusionOk="0">
                <a:moveTo>
                  <a:pt x="0" y="541147"/>
                </a:moveTo>
                <a:cubicBezTo>
                  <a:pt x="0" y="242316"/>
                  <a:pt x="242316" y="0"/>
                  <a:pt x="541147" y="0"/>
                </a:cubicBezTo>
                <a:cubicBezTo>
                  <a:pt x="839978" y="0"/>
                  <a:pt x="1082421" y="242316"/>
                  <a:pt x="1082421" y="541147"/>
                </a:cubicBezTo>
                <a:cubicBezTo>
                  <a:pt x="1082421" y="839978"/>
                  <a:pt x="840105" y="1082421"/>
                  <a:pt x="541147" y="1082421"/>
                </a:cubicBezTo>
                <a:cubicBezTo>
                  <a:pt x="242189" y="1082421"/>
                  <a:pt x="0" y="840105"/>
                  <a:pt x="0" y="541147"/>
                </a:cubicBezTo>
                <a:close/>
              </a:path>
            </a:pathLst>
          </a:custGeom>
          <a:solidFill>
            <a:srgbClr val="331656">
              <a:alpha val="5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5" name="Google Shape;195;p6"/>
          <p:cNvCxnSpPr/>
          <p:nvPr/>
        </p:nvCxnSpPr>
        <p:spPr>
          <a:xfrm rot="8400">
            <a:off x="10521763" y="2258692"/>
            <a:ext cx="7775877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97" name="Google Shape;197;p6"/>
          <p:cNvGrpSpPr/>
          <p:nvPr/>
        </p:nvGrpSpPr>
        <p:grpSpPr>
          <a:xfrm>
            <a:off x="2762498" y="1792224"/>
            <a:ext cx="7756800" cy="871204"/>
            <a:chOff x="0" y="0"/>
            <a:chExt cx="10342400" cy="1161606"/>
          </a:xfrm>
        </p:grpSpPr>
        <p:sp>
          <p:nvSpPr>
            <p:cNvPr id="198" name="Google Shape;198;p6"/>
            <p:cNvSpPr/>
            <p:nvPr/>
          </p:nvSpPr>
          <p:spPr>
            <a:xfrm>
              <a:off x="0" y="0"/>
              <a:ext cx="10342400" cy="1161600"/>
            </a:xfrm>
            <a:custGeom>
              <a:avLst/>
              <a:gdLst/>
              <a:ahLst/>
              <a:cxnLst/>
              <a:rect l="l" t="t" r="r" b="b"/>
              <a:pathLst>
                <a:path w="10342400" h="1161600" extrusionOk="0">
                  <a:moveTo>
                    <a:pt x="0" y="0"/>
                  </a:moveTo>
                  <a:lnTo>
                    <a:pt x="10342400" y="0"/>
                  </a:lnTo>
                  <a:lnTo>
                    <a:pt x="10342400" y="1161600"/>
                  </a:lnTo>
                  <a:lnTo>
                    <a:pt x="0" y="1161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23491" b="-123491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0" y="0"/>
              <a:ext cx="10342397" cy="1161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Objective &amp; Scope of Solution</a:t>
              </a:r>
              <a:endParaRPr/>
            </a:p>
          </p:txBody>
        </p:sp>
      </p:grpSp>
      <p:sp>
        <p:nvSpPr>
          <p:cNvPr id="200" name="Google Shape;200;p6"/>
          <p:cNvSpPr/>
          <p:nvPr/>
        </p:nvSpPr>
        <p:spPr>
          <a:xfrm>
            <a:off x="1828267" y="2034854"/>
            <a:ext cx="438550" cy="438550"/>
          </a:xfrm>
          <a:custGeom>
            <a:avLst/>
            <a:gdLst/>
            <a:ahLst/>
            <a:cxnLst/>
            <a:rect l="l" t="t" r="r" b="b"/>
            <a:pathLst>
              <a:path w="438550" h="438550" extrusionOk="0">
                <a:moveTo>
                  <a:pt x="0" y="0"/>
                </a:moveTo>
                <a:lnTo>
                  <a:pt x="438550" y="0"/>
                </a:lnTo>
                <a:lnTo>
                  <a:pt x="438550" y="438550"/>
                </a:lnTo>
                <a:lnTo>
                  <a:pt x="0" y="43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01" name="Google Shape;201;p6"/>
          <p:cNvSpPr/>
          <p:nvPr/>
        </p:nvSpPr>
        <p:spPr>
          <a:xfrm>
            <a:off x="11297" y="9415501"/>
            <a:ext cx="18288000" cy="871156"/>
          </a:xfrm>
          <a:custGeom>
            <a:avLst/>
            <a:gdLst/>
            <a:ahLst/>
            <a:cxnLst/>
            <a:rect l="l" t="t" r="r" b="b"/>
            <a:pathLst>
              <a:path w="24384000" h="1161542" extrusionOk="0">
                <a:moveTo>
                  <a:pt x="0" y="0"/>
                </a:moveTo>
                <a:lnTo>
                  <a:pt x="24384000" y="0"/>
                </a:lnTo>
                <a:lnTo>
                  <a:pt x="24384000" y="1161542"/>
                </a:lnTo>
                <a:lnTo>
                  <a:pt x="0" y="1161542"/>
                </a:lnTo>
                <a:close/>
              </a:path>
            </a:pathLst>
          </a:custGeom>
          <a:solidFill>
            <a:srgbClr val="331656">
              <a:alpha val="85882"/>
            </a:srgb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02" name="Google Shape;202;p6"/>
          <p:cNvSpPr txBox="1"/>
          <p:nvPr/>
        </p:nvSpPr>
        <p:spPr>
          <a:xfrm>
            <a:off x="16891330" y="9697173"/>
            <a:ext cx="91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6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51A5F9-23B8-FDE8-C3F5-8DC8316044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6477" y="1"/>
            <a:ext cx="18627212" cy="104584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7"/>
          <p:cNvCxnSpPr/>
          <p:nvPr/>
        </p:nvCxnSpPr>
        <p:spPr>
          <a:xfrm rot="23640">
            <a:off x="-9554" y="2258692"/>
            <a:ext cx="2770718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2" name="Google Shape;212;p7"/>
          <p:cNvSpPr/>
          <p:nvPr/>
        </p:nvSpPr>
        <p:spPr>
          <a:xfrm>
            <a:off x="1634947" y="1857537"/>
            <a:ext cx="811816" cy="811816"/>
          </a:xfrm>
          <a:custGeom>
            <a:avLst/>
            <a:gdLst/>
            <a:ahLst/>
            <a:cxnLst/>
            <a:rect l="l" t="t" r="r" b="b"/>
            <a:pathLst>
              <a:path w="1082421" h="1082421" extrusionOk="0">
                <a:moveTo>
                  <a:pt x="0" y="541147"/>
                </a:moveTo>
                <a:cubicBezTo>
                  <a:pt x="0" y="242316"/>
                  <a:pt x="242316" y="0"/>
                  <a:pt x="541147" y="0"/>
                </a:cubicBezTo>
                <a:cubicBezTo>
                  <a:pt x="839978" y="0"/>
                  <a:pt x="1082421" y="242316"/>
                  <a:pt x="1082421" y="541147"/>
                </a:cubicBezTo>
                <a:cubicBezTo>
                  <a:pt x="1082421" y="839978"/>
                  <a:pt x="840105" y="1082421"/>
                  <a:pt x="541147" y="1082421"/>
                </a:cubicBezTo>
                <a:cubicBezTo>
                  <a:pt x="242189" y="1082421"/>
                  <a:pt x="0" y="840105"/>
                  <a:pt x="0" y="541147"/>
                </a:cubicBezTo>
                <a:close/>
              </a:path>
            </a:pathLst>
          </a:custGeom>
          <a:solidFill>
            <a:srgbClr val="331656">
              <a:alpha val="5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3" name="Google Shape;213;p7"/>
          <p:cNvCxnSpPr/>
          <p:nvPr/>
        </p:nvCxnSpPr>
        <p:spPr>
          <a:xfrm rot="8400">
            <a:off x="10521763" y="2258692"/>
            <a:ext cx="7775877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4" name="Google Shape;214;p7"/>
          <p:cNvSpPr txBox="1"/>
          <p:nvPr/>
        </p:nvSpPr>
        <p:spPr>
          <a:xfrm>
            <a:off x="2425727" y="3646683"/>
            <a:ext cx="13436546" cy="199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001604" marR="0" lvl="1" indent="-500802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lang="en-US" sz="2799" b="0" i="0" u="none" strike="noStrike" cap="none" dirty="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Illustrate the high-level architecture and workflow of the solution.</a:t>
            </a:r>
            <a:endParaRPr dirty="0"/>
          </a:p>
          <a:p>
            <a:pPr marL="1717042" marR="0" lvl="1" indent="-858521" algn="l" rtl="0">
              <a:lnSpc>
                <a:spcPct val="23662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99" b="0" i="0" u="none" strike="noStrike" cap="none" dirty="0">
              <a:solidFill>
                <a:srgbClr val="000000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marL="1717042" marR="0" lvl="1" indent="-858521" algn="l" rtl="0">
              <a:lnSpc>
                <a:spcPct val="20575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99" b="0" i="0" u="none" strike="noStrike" cap="none" dirty="0">
              <a:solidFill>
                <a:srgbClr val="000000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grpSp>
        <p:nvGrpSpPr>
          <p:cNvPr id="215" name="Google Shape;215;p7"/>
          <p:cNvGrpSpPr/>
          <p:nvPr/>
        </p:nvGrpSpPr>
        <p:grpSpPr>
          <a:xfrm>
            <a:off x="2762498" y="1792224"/>
            <a:ext cx="7756800" cy="871204"/>
            <a:chOff x="0" y="0"/>
            <a:chExt cx="10342400" cy="1161606"/>
          </a:xfrm>
        </p:grpSpPr>
        <p:sp>
          <p:nvSpPr>
            <p:cNvPr id="216" name="Google Shape;216;p7"/>
            <p:cNvSpPr/>
            <p:nvPr/>
          </p:nvSpPr>
          <p:spPr>
            <a:xfrm>
              <a:off x="0" y="0"/>
              <a:ext cx="10342400" cy="1161600"/>
            </a:xfrm>
            <a:custGeom>
              <a:avLst/>
              <a:gdLst/>
              <a:ahLst/>
              <a:cxnLst/>
              <a:rect l="l" t="t" r="r" b="b"/>
              <a:pathLst>
                <a:path w="10342400" h="1161600" extrusionOk="0">
                  <a:moveTo>
                    <a:pt x="0" y="0"/>
                  </a:moveTo>
                  <a:lnTo>
                    <a:pt x="10342400" y="0"/>
                  </a:lnTo>
                  <a:lnTo>
                    <a:pt x="10342400" y="1161600"/>
                  </a:lnTo>
                  <a:lnTo>
                    <a:pt x="0" y="1161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23491" b="-123491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7" name="Google Shape;217;p7"/>
            <p:cNvSpPr txBox="1"/>
            <p:nvPr/>
          </p:nvSpPr>
          <p:spPr>
            <a:xfrm>
              <a:off x="0" y="0"/>
              <a:ext cx="10342397" cy="1161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System Architecture</a:t>
              </a:r>
              <a:endParaRPr/>
            </a:p>
          </p:txBody>
        </p:sp>
      </p:grpSp>
      <p:sp>
        <p:nvSpPr>
          <p:cNvPr id="218" name="Google Shape;218;p7"/>
          <p:cNvSpPr/>
          <p:nvPr/>
        </p:nvSpPr>
        <p:spPr>
          <a:xfrm>
            <a:off x="1828267" y="2034854"/>
            <a:ext cx="438550" cy="438550"/>
          </a:xfrm>
          <a:custGeom>
            <a:avLst/>
            <a:gdLst/>
            <a:ahLst/>
            <a:cxnLst/>
            <a:rect l="l" t="t" r="r" b="b"/>
            <a:pathLst>
              <a:path w="438550" h="438550" extrusionOk="0">
                <a:moveTo>
                  <a:pt x="0" y="0"/>
                </a:moveTo>
                <a:lnTo>
                  <a:pt x="438550" y="0"/>
                </a:lnTo>
                <a:lnTo>
                  <a:pt x="438550" y="438550"/>
                </a:lnTo>
                <a:lnTo>
                  <a:pt x="0" y="43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9" name="Google Shape;219;p7"/>
          <p:cNvSpPr/>
          <p:nvPr/>
        </p:nvSpPr>
        <p:spPr>
          <a:xfrm>
            <a:off x="11297" y="9415501"/>
            <a:ext cx="18288000" cy="871156"/>
          </a:xfrm>
          <a:custGeom>
            <a:avLst/>
            <a:gdLst/>
            <a:ahLst/>
            <a:cxnLst/>
            <a:rect l="l" t="t" r="r" b="b"/>
            <a:pathLst>
              <a:path w="24384000" h="1161542" extrusionOk="0">
                <a:moveTo>
                  <a:pt x="0" y="0"/>
                </a:moveTo>
                <a:lnTo>
                  <a:pt x="24384000" y="0"/>
                </a:lnTo>
                <a:lnTo>
                  <a:pt x="24384000" y="1161542"/>
                </a:lnTo>
                <a:lnTo>
                  <a:pt x="0" y="1161542"/>
                </a:lnTo>
                <a:close/>
              </a:path>
            </a:pathLst>
          </a:custGeom>
          <a:solidFill>
            <a:srgbClr val="331656">
              <a:alpha val="85882"/>
            </a:srgb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0" name="Google Shape;220;p7"/>
          <p:cNvSpPr txBox="1"/>
          <p:nvPr/>
        </p:nvSpPr>
        <p:spPr>
          <a:xfrm>
            <a:off x="16862680" y="9697173"/>
            <a:ext cx="91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7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BD7F2-D8FF-658F-380B-A96C527B6A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6477" y="0"/>
            <a:ext cx="18504105" cy="102676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" y="-26158"/>
            <a:ext cx="17830800" cy="16458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" name="Oval 2"/>
          <p:cNvSpPr/>
          <p:nvPr/>
        </p:nvSpPr>
        <p:spPr>
          <a:xfrm>
            <a:off x="2441448" y="178308"/>
            <a:ext cx="754380" cy="754380"/>
          </a:xfrm>
          <a:prstGeom prst="ellipse">
            <a:avLst/>
          </a:prstGeom>
          <a:solidFill>
            <a:srgbClr val="917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" name="TextBox 3"/>
          <p:cNvSpPr txBox="1"/>
          <p:nvPr/>
        </p:nvSpPr>
        <p:spPr>
          <a:xfrm>
            <a:off x="2612492" y="219456"/>
            <a:ext cx="412292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523471"/>
                </a:solidFill>
                <a:latin typeface="Arial"/>
              </a:defRPr>
            </a:pPr>
            <a:r>
              <a:rPr sz="3750"/>
              <a:t>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19273" y="233173"/>
            <a:ext cx="5375189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414"/>
                </a:solidFill>
                <a:latin typeface="Georgia"/>
              </a:defRPr>
            </a:pPr>
            <a:r>
              <a:rPr sz="3900" dirty="0"/>
              <a:t>Resources Required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7878" y="3737891"/>
            <a:ext cx="3593592" cy="3497580"/>
          </a:xfrm>
          <a:prstGeom prst="roundRect">
            <a:avLst/>
          </a:prstGeom>
          <a:solidFill>
            <a:srgbClr val="F6F2F8"/>
          </a:solidFill>
          <a:ln w="13970">
            <a:solidFill>
              <a:srgbClr val="D8C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7" name="Oval 6"/>
          <p:cNvSpPr/>
          <p:nvPr/>
        </p:nvSpPr>
        <p:spPr>
          <a:xfrm>
            <a:off x="2221993" y="3827311"/>
            <a:ext cx="1097280" cy="1097280"/>
          </a:xfrm>
          <a:prstGeom prst="ellipse">
            <a:avLst/>
          </a:prstGeom>
          <a:solidFill>
            <a:srgbClr val="917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8" name="TextBox 7"/>
          <p:cNvSpPr txBox="1"/>
          <p:nvPr/>
        </p:nvSpPr>
        <p:spPr>
          <a:xfrm>
            <a:off x="2439781" y="4050937"/>
            <a:ext cx="601447" cy="4385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2250"/>
              <a:t>&lt;/&gt;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0063" y="4891621"/>
            <a:ext cx="2268570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23471"/>
                </a:solidFill>
                <a:latin typeface="Georgia"/>
              </a:defRPr>
            </a:pPr>
            <a:r>
              <a:rPr sz="2100" dirty="0"/>
              <a:t>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8532" y="5579760"/>
            <a:ext cx="3099816" cy="13542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050">
                <a:solidFill>
                  <a:srgbClr val="5A5A5A"/>
                </a:solidFill>
                <a:latin typeface="Georgia"/>
              </a:defRPr>
            </a:pPr>
            <a:r>
              <a:rPr sz="1800" dirty="0"/>
              <a:t>React + Vite + TypeScript</a:t>
            </a:r>
          </a:p>
          <a:p>
            <a:pPr algn="ctr">
              <a:spcAft>
                <a:spcPts val="600"/>
              </a:spcAft>
              <a:defRPr sz="1050">
                <a:solidFill>
                  <a:srgbClr val="5A5A5A"/>
                </a:solidFill>
                <a:latin typeface="Georgia"/>
              </a:defRPr>
            </a:pPr>
            <a:r>
              <a:rPr sz="1800" dirty="0"/>
              <a:t>Node.js + Express.js</a:t>
            </a:r>
          </a:p>
          <a:p>
            <a:pPr algn="ctr">
              <a:spcAft>
                <a:spcPts val="600"/>
              </a:spcAft>
              <a:defRPr sz="1050">
                <a:solidFill>
                  <a:srgbClr val="5A5A5A"/>
                </a:solidFill>
                <a:latin typeface="Georgia"/>
              </a:defRPr>
            </a:pPr>
            <a:r>
              <a:rPr sz="1800" dirty="0" err="1"/>
              <a:t>Supabase</a:t>
            </a:r>
            <a:r>
              <a:rPr sz="1800" dirty="0"/>
              <a:t> • Gemini • </a:t>
            </a:r>
            <a:r>
              <a:rPr sz="1800" dirty="0" err="1"/>
              <a:t>Cloudinary</a:t>
            </a:r>
            <a:endParaRPr sz="1800" dirty="0"/>
          </a:p>
        </p:txBody>
      </p:sp>
      <p:sp>
        <p:nvSpPr>
          <p:cNvPr id="11" name="Rounded Rectangle 10"/>
          <p:cNvSpPr/>
          <p:nvPr/>
        </p:nvSpPr>
        <p:spPr>
          <a:xfrm>
            <a:off x="5239511" y="3681891"/>
            <a:ext cx="3593592" cy="3497580"/>
          </a:xfrm>
          <a:prstGeom prst="roundRect">
            <a:avLst/>
          </a:prstGeom>
          <a:solidFill>
            <a:srgbClr val="F6F2F8"/>
          </a:solidFill>
          <a:ln w="13970">
            <a:solidFill>
              <a:srgbClr val="D8C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2" name="Oval 11"/>
          <p:cNvSpPr/>
          <p:nvPr/>
        </p:nvSpPr>
        <p:spPr>
          <a:xfrm>
            <a:off x="6487668" y="3792847"/>
            <a:ext cx="1097280" cy="1097280"/>
          </a:xfrm>
          <a:prstGeom prst="ellipse">
            <a:avLst/>
          </a:prstGeom>
          <a:solidFill>
            <a:srgbClr val="917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 dirty="0"/>
          </a:p>
        </p:txBody>
      </p:sp>
      <p:sp>
        <p:nvSpPr>
          <p:cNvPr id="13" name="TextBox 12"/>
          <p:cNvSpPr txBox="1"/>
          <p:nvPr/>
        </p:nvSpPr>
        <p:spPr>
          <a:xfrm>
            <a:off x="6761916" y="4130854"/>
            <a:ext cx="4924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rPr sz="2400" dirty="0"/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7777" y="4969645"/>
            <a:ext cx="1677061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23471"/>
                </a:solidFill>
                <a:latin typeface="Georgia"/>
              </a:defRPr>
            </a:pPr>
            <a:r>
              <a:rPr sz="2100" dirty="0"/>
              <a:t>DATA &amp;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5626270"/>
            <a:ext cx="3099816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050">
                <a:solidFill>
                  <a:srgbClr val="5A5A5A"/>
                </a:solidFill>
                <a:latin typeface="Georgia"/>
              </a:defRPr>
            </a:pPr>
            <a:r>
              <a:rPr sz="1800" dirty="0"/>
              <a:t>Medicine reference images</a:t>
            </a:r>
          </a:p>
          <a:p>
            <a:pPr algn="ctr">
              <a:spcAft>
                <a:spcPts val="600"/>
              </a:spcAft>
              <a:defRPr sz="1050">
                <a:solidFill>
                  <a:srgbClr val="5A5A5A"/>
                </a:solidFill>
                <a:latin typeface="Georgia"/>
              </a:defRPr>
            </a:pPr>
            <a:r>
              <a:rPr sz="1800" dirty="0"/>
              <a:t>Medication schedules &amp; logs</a:t>
            </a:r>
          </a:p>
          <a:p>
            <a:pPr algn="ctr">
              <a:spcAft>
                <a:spcPts val="600"/>
              </a:spcAft>
              <a:defRPr sz="1050">
                <a:solidFill>
                  <a:srgbClr val="5A5A5A"/>
                </a:solidFill>
                <a:latin typeface="Georgia"/>
              </a:defRPr>
            </a:pPr>
            <a:r>
              <a:rPr sz="1800" dirty="0"/>
              <a:t>Voice + AI vision / NLU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34376" y="3735348"/>
            <a:ext cx="3593592" cy="3497580"/>
          </a:xfrm>
          <a:prstGeom prst="roundRect">
            <a:avLst/>
          </a:prstGeom>
          <a:solidFill>
            <a:srgbClr val="F6F2F8"/>
          </a:solidFill>
          <a:ln w="13970">
            <a:solidFill>
              <a:srgbClr val="D8C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7" name="Oval 16"/>
          <p:cNvSpPr/>
          <p:nvPr/>
        </p:nvSpPr>
        <p:spPr>
          <a:xfrm>
            <a:off x="10739628" y="3777607"/>
            <a:ext cx="1097280" cy="1097280"/>
          </a:xfrm>
          <a:prstGeom prst="ellipse">
            <a:avLst/>
          </a:prstGeom>
          <a:solidFill>
            <a:srgbClr val="917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 dirty="0"/>
          </a:p>
        </p:txBody>
      </p:sp>
      <p:sp>
        <p:nvSpPr>
          <p:cNvPr id="18" name="TextBox 17"/>
          <p:cNvSpPr txBox="1"/>
          <p:nvPr/>
        </p:nvSpPr>
        <p:spPr>
          <a:xfrm>
            <a:off x="11077313" y="4119527"/>
            <a:ext cx="421910" cy="4385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2250"/>
              <a:t>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6939" y="4879813"/>
            <a:ext cx="198804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23471"/>
                </a:solidFill>
                <a:latin typeface="Georgia"/>
              </a:defRPr>
            </a:pPr>
            <a:r>
              <a:rPr sz="2100" dirty="0"/>
              <a:t>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1264" y="5557901"/>
            <a:ext cx="3099816" cy="13542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050">
                <a:solidFill>
                  <a:srgbClr val="5A5A5A"/>
                </a:solidFill>
                <a:latin typeface="Georgia"/>
              </a:defRPr>
            </a:pPr>
            <a:r>
              <a:rPr sz="1800" dirty="0"/>
              <a:t>Smartphone / Tablet</a:t>
            </a:r>
          </a:p>
          <a:p>
            <a:pPr algn="ctr">
              <a:spcAft>
                <a:spcPts val="600"/>
              </a:spcAft>
              <a:defRPr sz="1050">
                <a:solidFill>
                  <a:srgbClr val="5A5A5A"/>
                </a:solidFill>
                <a:latin typeface="Georgia"/>
              </a:defRPr>
            </a:pPr>
            <a:r>
              <a:rPr sz="1800" dirty="0"/>
              <a:t>Camera • Microphone • Speaker</a:t>
            </a:r>
          </a:p>
          <a:p>
            <a:pPr algn="ctr">
              <a:spcAft>
                <a:spcPts val="600"/>
              </a:spcAft>
              <a:defRPr sz="1050">
                <a:solidFill>
                  <a:srgbClr val="5A5A5A"/>
                </a:solidFill>
                <a:latin typeface="Georgia"/>
              </a:defRPr>
            </a:pPr>
            <a:r>
              <a:rPr sz="1800" dirty="0"/>
              <a:t>Internet connectivity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46530" y="3681891"/>
            <a:ext cx="3593592" cy="3497580"/>
          </a:xfrm>
          <a:prstGeom prst="roundRect">
            <a:avLst/>
          </a:prstGeom>
          <a:solidFill>
            <a:srgbClr val="F6F2F8"/>
          </a:solidFill>
          <a:ln w="13970">
            <a:solidFill>
              <a:srgbClr val="D8C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2" name="Oval 21"/>
          <p:cNvSpPr/>
          <p:nvPr/>
        </p:nvSpPr>
        <p:spPr>
          <a:xfrm>
            <a:off x="14991588" y="3792847"/>
            <a:ext cx="1097280" cy="1097280"/>
          </a:xfrm>
          <a:prstGeom prst="ellipse">
            <a:avLst/>
          </a:prstGeom>
          <a:solidFill>
            <a:srgbClr val="917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3" name="TextBox 22"/>
          <p:cNvSpPr txBox="1"/>
          <p:nvPr/>
        </p:nvSpPr>
        <p:spPr>
          <a:xfrm>
            <a:off x="15322861" y="4145987"/>
            <a:ext cx="434734" cy="4385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2250"/>
              <a:t>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75353" y="4859338"/>
            <a:ext cx="2274982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23471"/>
                </a:solidFill>
                <a:latin typeface="Georgia"/>
              </a:defRPr>
            </a:pPr>
            <a:r>
              <a:rPr sz="2100" dirty="0"/>
              <a:t>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0" y="5509816"/>
            <a:ext cx="3099816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050">
                <a:solidFill>
                  <a:srgbClr val="5A5A5A"/>
                </a:solidFill>
                <a:latin typeface="Georgia"/>
              </a:defRPr>
            </a:pPr>
            <a:r>
              <a:rPr sz="1800" dirty="0"/>
              <a:t>GitHub version control</a:t>
            </a:r>
          </a:p>
          <a:p>
            <a:pPr algn="ctr">
              <a:spcAft>
                <a:spcPts val="600"/>
              </a:spcAft>
              <a:defRPr sz="1050">
                <a:solidFill>
                  <a:srgbClr val="5A5A5A"/>
                </a:solidFill>
                <a:latin typeface="Georgia"/>
              </a:defRPr>
            </a:pPr>
            <a:r>
              <a:rPr sz="1800" dirty="0" err="1"/>
              <a:t>Vercel</a:t>
            </a:r>
            <a:r>
              <a:rPr sz="1800" dirty="0"/>
              <a:t> + backend server</a:t>
            </a:r>
          </a:p>
          <a:p>
            <a:pPr algn="ctr">
              <a:spcAft>
                <a:spcPts val="600"/>
              </a:spcAft>
              <a:defRPr sz="1050">
                <a:solidFill>
                  <a:srgbClr val="5A5A5A"/>
                </a:solidFill>
                <a:latin typeface="Georgia"/>
              </a:defRPr>
            </a:pPr>
            <a:r>
              <a:rPr sz="1800" dirty="0"/>
              <a:t>Secure API credentials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56816" y="7666499"/>
            <a:ext cx="14374368" cy="1124712"/>
          </a:xfrm>
          <a:prstGeom prst="roundRect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7" name="TextBox 26"/>
          <p:cNvSpPr txBox="1"/>
          <p:nvPr/>
        </p:nvSpPr>
        <p:spPr>
          <a:xfrm>
            <a:off x="4014959" y="7948533"/>
            <a:ext cx="1038777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rPr sz="2400" dirty="0"/>
              <a:t>CONFIGURE  →  UNDERSTAND  →  VERIFY  →  LOG  →  NOTIFY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59114" y="8916463"/>
            <a:ext cx="10169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i="1">
                <a:solidFill>
                  <a:srgbClr val="5A5A5A"/>
                </a:solidFill>
                <a:latin typeface="Georgia"/>
              </a:defRPr>
            </a:pPr>
            <a:r>
              <a:rPr sz="2400" dirty="0">
                <a:solidFill>
                  <a:schemeClr val="tx1"/>
                </a:solidFill>
              </a:rPr>
              <a:t>Built for accessible, secure and caregiver-connected medication support.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" y="9628632"/>
            <a:ext cx="17830800" cy="658368"/>
          </a:xfrm>
          <a:prstGeom prst="rect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0" name="TextBox 29"/>
          <p:cNvSpPr txBox="1"/>
          <p:nvPr/>
        </p:nvSpPr>
        <p:spPr>
          <a:xfrm>
            <a:off x="17241848" y="9779509"/>
            <a:ext cx="30008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41414"/>
                </a:solidFill>
                <a:latin typeface="Georgia"/>
              </a:defRPr>
            </a:pPr>
            <a:r>
              <a:rPr sz="1500"/>
              <a:t>8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9282804-B100-FA65-AF17-F92649457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38" y="967929"/>
            <a:ext cx="15131845" cy="2720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8a5957b-17d6-4dbd-9275-9598e90d7c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954" y="0"/>
            <a:ext cx="18700954" cy="10287000"/>
          </a:xfrm>
          <a:prstGeom prst="rect">
            <a:avLst/>
          </a:prstGeom>
        </p:spPr>
      </p:pic>
      <p:pic>
        <p:nvPicPr>
          <p:cNvPr id="3" name="Picture 2" descr="a_clean_high_quality_3d_3d_flat_cartoon_illustr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13" y="7342484"/>
            <a:ext cx="3223260" cy="2686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Microsoft Office PowerPoint</Application>
  <PresentationFormat>Custom</PresentationFormat>
  <Paragraphs>72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Lora</vt:lpstr>
      <vt:lpstr>Wingdings</vt:lpstr>
      <vt:lpstr>Quattrocento</vt:lpstr>
      <vt:lpstr>Calibri</vt:lpstr>
      <vt:lpstr>Petrona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Harika Bhashyam</dc:creator>
  <cp:lastModifiedBy>Harika Bhashyam</cp:lastModifiedBy>
  <cp:revision>1</cp:revision>
  <dcterms:modified xsi:type="dcterms:W3CDTF">2026-09-28T16:47:30Z</dcterms:modified>
</cp:coreProperties>
</file>