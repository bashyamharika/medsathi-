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7" y="566928"/>
            <a:ext cx="1291369" cy="466344"/>
          </a:xfrm>
          <a:prstGeom prst="roundRect">
            <a:avLst/>
          </a:prstGeom>
          <a:solidFill>
            <a:srgbClr val="714F91"/>
          </a:solidFill>
          <a:ln>
            <a:solidFill>
              <a:srgbClr val="71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2735" y="686980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200" dirty="0"/>
              <a:t>ROUND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5120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rPr sz="4800" dirty="0" err="1"/>
              <a:t>MedSathi</a:t>
            </a:r>
            <a:endParaRPr sz="4800" dirty="0"/>
          </a:p>
        </p:txBody>
      </p:sp>
      <p:sp>
        <p:nvSpPr>
          <p:cNvPr id="5" name="TextBox 4"/>
          <p:cNvSpPr txBox="1"/>
          <p:nvPr/>
        </p:nvSpPr>
        <p:spPr>
          <a:xfrm>
            <a:off x="621792" y="1874519"/>
            <a:ext cx="5394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7DEEF"/>
                </a:solidFill>
                <a:latin typeface="Georgia"/>
              </a:defRPr>
            </a:pPr>
            <a:r>
              <a:rPr sz="2000" dirty="0"/>
              <a:t>From “take your medicine” to guided medication care.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697480"/>
            <a:ext cx="516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C6D2"/>
                </a:solidFill>
                <a:latin typeface="Aptos"/>
              </a:defRPr>
            </a:pPr>
            <a:r>
              <a:rPr sz="1600" dirty="0"/>
              <a:t>A voice-first, caregiver-connected medication companion for elderly and low-literacy patients.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4160519"/>
            <a:ext cx="1389888" cy="519635"/>
          </a:xfrm>
          <a:prstGeom prst="roundRect">
            <a:avLst/>
          </a:prstGeom>
          <a:solidFill>
            <a:srgbClr val="714F91"/>
          </a:solidFill>
          <a:ln>
            <a:solidFill>
              <a:srgbClr val="71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4242816"/>
            <a:ext cx="1389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VOICE-FIRST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2194560" y="4160520"/>
            <a:ext cx="1389888" cy="519634"/>
          </a:xfrm>
          <a:prstGeom prst="roundRect">
            <a:avLst/>
          </a:prstGeom>
          <a:solidFill>
            <a:srgbClr val="714F91"/>
          </a:solidFill>
          <a:ln>
            <a:solidFill>
              <a:srgbClr val="71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0" y="4242816"/>
            <a:ext cx="1389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VISION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4160520"/>
            <a:ext cx="1640414" cy="519634"/>
          </a:xfrm>
          <a:prstGeom prst="roundRect">
            <a:avLst/>
          </a:prstGeom>
          <a:solidFill>
            <a:srgbClr val="714F91"/>
          </a:solidFill>
          <a:ln>
            <a:solidFill>
              <a:srgbClr val="71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4186819"/>
            <a:ext cx="1315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CAREGIVER LINK</a:t>
            </a:r>
          </a:p>
        </p:txBody>
      </p:sp>
      <p:pic>
        <p:nvPicPr>
          <p:cNvPr id="13" name="Picture 12" descr="wide_clean_illustration_composite_scene_with_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4" y="1958093"/>
            <a:ext cx="5715000" cy="21989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5650992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ABB9"/>
                </a:solidFill>
                <a:latin typeface="Aptos"/>
              </a:defRPr>
            </a:pPr>
            <a:r>
              <a:rPr sz="1600" dirty="0"/>
              <a:t>Problem • Solution • Architecture • Data • APIs • AI •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6019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241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1C22"/>
                </a:solidFill>
                <a:latin typeface="Georgia"/>
              </a:defRPr>
            </a:pPr>
            <a:r>
              <a:rPr sz="3200" dirty="0"/>
              <a:t>Problem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722376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565F"/>
                </a:solidFill>
                <a:latin typeface="Aptos"/>
              </a:defRPr>
            </a:pPr>
            <a:r>
              <a:rPr sz="1600" dirty="0"/>
              <a:t>A medication event has multiple points where uncertainty can enter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92824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4709160" cy="452628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23471"/>
                </a:solidFill>
                <a:latin typeface="Aptos"/>
              </a:defRPr>
            </a:pPr>
            <a:r>
              <a:t>ONE DOSE. MANY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069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1C22"/>
                </a:solidFill>
                <a:latin typeface="Georgia"/>
              </a:defRPr>
            </a:pPr>
            <a:r>
              <a:rPr dirty="0"/>
              <a:t>“</a:t>
            </a:r>
            <a:r>
              <a:rPr sz="2000" dirty="0"/>
              <a:t>Which medicine is this?”</a:t>
            </a:r>
            <a:br>
              <a:rPr sz="2000" dirty="0"/>
            </a:br>
            <a:r>
              <a:rPr sz="2000" dirty="0"/>
              <a:t>“Before or after food?”</a:t>
            </a:r>
            <a:br>
              <a:rPr sz="2000" dirty="0"/>
            </a:br>
            <a:r>
              <a:rPr sz="2000" dirty="0"/>
              <a:t>“Did I already take it?”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312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565F"/>
                </a:solidFill>
                <a:latin typeface="Aptos"/>
              </a:defRPr>
            </a:pPr>
            <a:r>
              <a:rPr sz="1600" dirty="0"/>
              <a:t>When the caregiver is away, these questions become a real-time support gap—not just a memory problem.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4187952"/>
            <a:ext cx="219456" cy="219456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4197096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178808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IDENTIFY</a:t>
            </a:r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896112" y="4572000"/>
            <a:ext cx="219456" cy="219456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4581144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62856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23471"/>
                </a:solidFill>
                <a:latin typeface="Aptos"/>
              </a:defRPr>
            </a:pPr>
            <a:r>
              <a:rPr sz="1200" dirty="0"/>
              <a:t>UNDERSTAND</a:t>
            </a:r>
            <a:endParaRPr dirty="0"/>
          </a:p>
        </p:txBody>
      </p:sp>
      <p:sp>
        <p:nvSpPr>
          <p:cNvPr id="17" name="Oval 16"/>
          <p:cNvSpPr/>
          <p:nvPr/>
        </p:nvSpPr>
        <p:spPr>
          <a:xfrm>
            <a:off x="896112" y="4956048"/>
            <a:ext cx="219456" cy="219456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96519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946904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CONFIRM</a:t>
            </a:r>
            <a:endParaRPr dirty="0"/>
          </a:p>
        </p:txBody>
      </p:sp>
      <p:sp>
        <p:nvSpPr>
          <p:cNvPr id="20" name="Oval 19"/>
          <p:cNvSpPr/>
          <p:nvPr/>
        </p:nvSpPr>
        <p:spPr>
          <a:xfrm>
            <a:off x="896112" y="5340096"/>
            <a:ext cx="219456" cy="219456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5349240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330952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SUPPORT</a:t>
            </a:r>
            <a:endParaRPr dirty="0"/>
          </a:p>
        </p:txBody>
      </p:sp>
      <p:pic>
        <p:nvPicPr>
          <p:cNvPr id="23" name="Picture 22" descr="wide_infographic_scene_with_a_clean_white_backgr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51588"/>
            <a:ext cx="5989320" cy="3837361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715000" y="5285232"/>
            <a:ext cx="5577840" cy="475488"/>
          </a:xfrm>
          <a:prstGeom prst="roundRect">
            <a:avLst/>
          </a:prstGeom>
          <a:solidFill>
            <a:srgbClr val="523471"/>
          </a:solidFill>
          <a:ln>
            <a:solidFill>
              <a:srgbClr val="5234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60" y="5394960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400" dirty="0"/>
              <a:t>CORE GAP  •  Reminder ≠ complete medication guidance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9224" y="371735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8BB5"/>
                </a:solidFill>
                <a:latin typeface="Aptos"/>
              </a:defRPr>
            </a:pPr>
            <a:r>
              <a:rPr sz="1100" dirty="0"/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241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Georgia"/>
              </a:defRPr>
            </a:pPr>
            <a:r>
              <a:rPr sz="3200" dirty="0"/>
              <a:t>Proposed solution: a guided medication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797789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8C1CD"/>
                </a:solidFill>
                <a:latin typeface="Aptos"/>
              </a:defRPr>
            </a:pPr>
            <a:r>
              <a:rPr sz="1400" b="1" dirty="0"/>
              <a:t>Connect caregiver configuration, patient interaction, verification and follow-up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AAB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084831" cy="297180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67512" y="1627632"/>
            <a:ext cx="438912" cy="43891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636776"/>
            <a:ext cx="438912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700784"/>
            <a:ext cx="114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200" dirty="0"/>
              <a:t>CONFIGURE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67512" y="2304288"/>
            <a:ext cx="17373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C3CF"/>
                </a:solidFill>
                <a:latin typeface="Aptos"/>
              </a:defRPr>
            </a:pPr>
            <a:r>
              <a:rPr sz="1400" dirty="0"/>
              <a:t>Caregiver sets medicine, dosage, timing, meal relation &amp; reference images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417320"/>
            <a:ext cx="2084831" cy="297180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999232" y="1627632"/>
            <a:ext cx="438912" cy="43891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9232" y="1636776"/>
            <a:ext cx="438912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1700784"/>
            <a:ext cx="1143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100" dirty="0"/>
              <a:t>UNDERSTAND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2999232" y="2304288"/>
            <a:ext cx="1737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C3CF"/>
                </a:solidFill>
                <a:latin typeface="Aptos"/>
              </a:defRPr>
            </a:pPr>
            <a:r>
              <a:rPr sz="1400" dirty="0"/>
              <a:t>Patient speaks naturally; </a:t>
            </a:r>
            <a:r>
              <a:rPr sz="1400" dirty="0" err="1"/>
              <a:t>MedSathi</a:t>
            </a:r>
            <a:r>
              <a:rPr sz="1400" dirty="0"/>
              <a:t> interprets intent and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417320"/>
            <a:ext cx="2084831" cy="297180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30951" y="1627632"/>
            <a:ext cx="438912" cy="43891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30951" y="1636776"/>
            <a:ext cx="438912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1700784"/>
            <a:ext cx="114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200" dirty="0"/>
              <a:t>VERIFY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5330951" y="2304288"/>
            <a:ext cx="1737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C3CF"/>
                </a:solidFill>
                <a:latin typeface="Aptos"/>
              </a:defRPr>
            </a:pPr>
            <a:r>
              <a:rPr sz="1400" dirty="0"/>
              <a:t>Camera-based check returns Correct / Wrong / Uncertain.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417320"/>
            <a:ext cx="2084831" cy="297180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662671" y="1627632"/>
            <a:ext cx="438912" cy="43891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62671" y="1636776"/>
            <a:ext cx="438912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1" y="1700784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400" dirty="0"/>
              <a:t>GUIDE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662671" y="2304288"/>
            <a:ext cx="17373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C3CF"/>
                </a:solidFill>
                <a:latin typeface="Aptos"/>
              </a:defRPr>
            </a:pPr>
            <a:r>
              <a:rPr sz="1400" dirty="0"/>
              <a:t>Caregiver-configured dosage becomes simple voice + visual guidance.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417320"/>
            <a:ext cx="2084831" cy="297180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994392" y="1627632"/>
            <a:ext cx="438912" cy="43891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94392" y="1636776"/>
            <a:ext cx="438912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43032" y="1700784"/>
            <a:ext cx="114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200" dirty="0"/>
              <a:t>CONFIRM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9994392" y="2304288"/>
            <a:ext cx="1737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C3CF"/>
                </a:solidFill>
                <a:latin typeface="Aptos"/>
              </a:defRPr>
            </a:pPr>
            <a:r>
              <a:rPr sz="1400" dirty="0"/>
              <a:t>Dose is logged; missed or uncertain events can reach the caregiver.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4519" y="4892040"/>
            <a:ext cx="8412480" cy="658368"/>
          </a:xfrm>
          <a:prstGeom prst="roundRect">
            <a:avLst/>
          </a:prstGeom>
          <a:solidFill>
            <a:srgbClr val="714F91"/>
          </a:solidFill>
          <a:ln>
            <a:solidFill>
              <a:srgbClr val="71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57400" y="5038344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rPr sz="1400" dirty="0"/>
              <a:t>A reminder tells.  </a:t>
            </a:r>
            <a:r>
              <a:rPr sz="1400" dirty="0" err="1"/>
              <a:t>MedSathi</a:t>
            </a:r>
            <a:r>
              <a:rPr sz="1400" dirty="0"/>
              <a:t> guides.  And when uncertain, it does not guess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36" y="492154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241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1C22"/>
                </a:solidFill>
                <a:latin typeface="Georgia"/>
              </a:defRPr>
            </a:pPr>
            <a:r>
              <a:rPr sz="3600" dirty="0"/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722376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565F"/>
                </a:solidFill>
                <a:latin typeface="Aptos"/>
              </a:defRPr>
            </a:pPr>
            <a:r>
              <a:rPr sz="1600" dirty="0"/>
              <a:t>Patient/caregiver apps → API layer → deterministic orchestration → data + AI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92824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920240" cy="137160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55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CLIENTS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85799" y="1834813"/>
            <a:ext cx="17099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1C22"/>
                </a:solidFill>
                <a:latin typeface="Aptos"/>
              </a:defRPr>
            </a:pPr>
            <a:r>
              <a:rPr sz="1400" dirty="0"/>
              <a:t>Caregiver Web App</a:t>
            </a:r>
            <a:br>
              <a:rPr sz="1400" dirty="0"/>
            </a:br>
            <a:r>
              <a:rPr sz="1400" dirty="0"/>
              <a:t>Patient Companion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234440"/>
            <a:ext cx="3749039" cy="3429000"/>
          </a:xfrm>
          <a:prstGeom prst="roundRect">
            <a:avLst/>
          </a:prstGeom>
          <a:solidFill>
            <a:srgbClr val="523471"/>
          </a:solidFill>
          <a:ln>
            <a:solidFill>
              <a:srgbClr val="5234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481328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NODE.JS + EXPRESS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9232" y="1938528"/>
            <a:ext cx="3200400" cy="283464"/>
          </a:xfrm>
          <a:prstGeom prst="roundRect">
            <a:avLst/>
          </a:prstGeom>
          <a:solidFill>
            <a:srgbClr val="674981"/>
          </a:solidFill>
          <a:ln>
            <a:solidFill>
              <a:srgbClr val="795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27248" y="1993392"/>
            <a:ext cx="2926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Auth &amp;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2331720"/>
            <a:ext cx="3200400" cy="283464"/>
          </a:xfrm>
          <a:prstGeom prst="roundRect">
            <a:avLst/>
          </a:prstGeom>
          <a:solidFill>
            <a:srgbClr val="674981"/>
          </a:solidFill>
          <a:ln>
            <a:solidFill>
              <a:srgbClr val="795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27248" y="2386584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FFFFFF"/>
                </a:solidFill>
                <a:latin typeface="Aptos"/>
              </a:defRPr>
            </a:pPr>
            <a:r>
              <a:rPr sz="1200" dirty="0"/>
              <a:t>Medication + schedules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99232" y="2724912"/>
            <a:ext cx="3200400" cy="283464"/>
          </a:xfrm>
          <a:prstGeom prst="roundRect">
            <a:avLst/>
          </a:prstGeom>
          <a:solidFill>
            <a:srgbClr val="674981"/>
          </a:solidFill>
          <a:ln>
            <a:solidFill>
              <a:srgbClr val="795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27248" y="2779776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FFFFFF"/>
                </a:solidFill>
                <a:latin typeface="Aptos"/>
              </a:defRPr>
            </a:pPr>
            <a:r>
              <a:rPr sz="1200" dirty="0"/>
              <a:t>Medication event/state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3118104"/>
            <a:ext cx="3200400" cy="283464"/>
          </a:xfrm>
          <a:prstGeom prst="roundRect">
            <a:avLst/>
          </a:prstGeom>
          <a:solidFill>
            <a:srgbClr val="674981"/>
          </a:solidFill>
          <a:ln>
            <a:solidFill>
              <a:srgbClr val="795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27248" y="3172968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FFFFFF"/>
                </a:solidFill>
                <a:latin typeface="Aptos"/>
              </a:defRPr>
            </a:pPr>
            <a:r>
              <a:rPr sz="1200" dirty="0"/>
              <a:t>AI orchestration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99232" y="3511296"/>
            <a:ext cx="3200400" cy="283464"/>
          </a:xfrm>
          <a:prstGeom prst="roundRect">
            <a:avLst/>
          </a:prstGeom>
          <a:solidFill>
            <a:srgbClr val="674981"/>
          </a:solidFill>
          <a:ln>
            <a:solidFill>
              <a:srgbClr val="795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27248" y="3566160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FFFFFF"/>
                </a:solidFill>
                <a:latin typeface="Aptos"/>
              </a:defRPr>
            </a:pPr>
            <a:r>
              <a:rPr sz="1200" dirty="0"/>
              <a:t>Notifications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2999232" y="3904487"/>
            <a:ext cx="3200400" cy="283464"/>
          </a:xfrm>
          <a:prstGeom prst="roundRect">
            <a:avLst/>
          </a:prstGeom>
          <a:solidFill>
            <a:srgbClr val="674981"/>
          </a:solidFill>
          <a:ln>
            <a:solidFill>
              <a:srgbClr val="795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27248" y="3959352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FFFFFF"/>
                </a:solidFill>
                <a:latin typeface="Aptos"/>
              </a:defRPr>
            </a:pPr>
            <a:r>
              <a:rPr sz="1200" dirty="0"/>
              <a:t>Image 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1480705"/>
            <a:ext cx="2057400" cy="141732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59168" y="1627632"/>
            <a:ext cx="1600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AI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1984248"/>
            <a:ext cx="16459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B565F"/>
                </a:solidFill>
                <a:latin typeface="Aptos"/>
              </a:defRPr>
            </a:pPr>
            <a:r>
              <a:rPr sz="1400" dirty="0"/>
              <a:t>Gemini Vision</a:t>
            </a:r>
            <a:br>
              <a:rPr sz="1400" dirty="0"/>
            </a:br>
            <a:r>
              <a:rPr sz="1400" dirty="0"/>
              <a:t>Gemini NLU</a:t>
            </a:r>
            <a:br>
              <a:rPr sz="1400" dirty="0"/>
            </a:br>
            <a:r>
              <a:rPr sz="1400" dirty="0"/>
              <a:t>Structured JSON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417320"/>
            <a:ext cx="2514600" cy="141732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72600" y="1627632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DATA &amp;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1984248"/>
            <a:ext cx="20116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B565F"/>
                </a:solidFill>
                <a:latin typeface="Aptos"/>
              </a:defRPr>
            </a:pPr>
            <a:r>
              <a:rPr sz="1400" dirty="0" err="1"/>
              <a:t>Supabase</a:t>
            </a:r>
            <a:r>
              <a:rPr sz="1400" dirty="0"/>
              <a:t> Auth</a:t>
            </a:r>
            <a:br>
              <a:rPr sz="1400" dirty="0"/>
            </a:br>
            <a:r>
              <a:rPr sz="1400" dirty="0"/>
              <a:t>PostgreSQL + RLS</a:t>
            </a:r>
            <a:br>
              <a:rPr sz="1400" dirty="0"/>
            </a:br>
            <a:r>
              <a:rPr sz="1400" dirty="0" err="1"/>
              <a:t>Cloudinary</a:t>
            </a:r>
            <a:endParaRPr sz="1400" dirty="0"/>
          </a:p>
        </p:txBody>
      </p:sp>
      <p:cxnSp>
        <p:nvCxnSpPr>
          <p:cNvPr id="30" name="Connector 29"/>
          <p:cNvCxnSpPr/>
          <p:nvPr/>
        </p:nvCxnSpPr>
        <p:spPr>
          <a:xfrm>
            <a:off x="2423160" y="2103120"/>
            <a:ext cx="320040" cy="0"/>
          </a:xfrm>
          <a:prstGeom prst="line">
            <a:avLst/>
          </a:prstGeom>
          <a:ln w="25400">
            <a:solidFill>
              <a:srgbClr val="A08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92240" y="2103120"/>
            <a:ext cx="347472" cy="0"/>
          </a:xfrm>
          <a:prstGeom prst="line">
            <a:avLst/>
          </a:prstGeom>
          <a:ln w="25400">
            <a:solidFill>
              <a:srgbClr val="A08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cxnSpLocks/>
          </p:cNvCxnSpPr>
          <p:nvPr/>
        </p:nvCxnSpPr>
        <p:spPr>
          <a:xfrm>
            <a:off x="8839200" y="2226973"/>
            <a:ext cx="304800" cy="0"/>
          </a:xfrm>
          <a:prstGeom prst="line">
            <a:avLst/>
          </a:prstGeom>
          <a:ln w="25400">
            <a:solidFill>
              <a:srgbClr val="A08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0120" y="5029200"/>
            <a:ext cx="10287000" cy="640080"/>
          </a:xfrm>
          <a:prstGeom prst="roundRect">
            <a:avLst/>
          </a:prstGeom>
          <a:solidFill>
            <a:srgbClr val="E7DEEF"/>
          </a:solidFill>
          <a:ln>
            <a:solidFill>
              <a:srgbClr val="E7D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5193792"/>
            <a:ext cx="9921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523471"/>
                </a:solidFill>
                <a:latin typeface="Georgia"/>
              </a:defRPr>
            </a:pPr>
            <a:r>
              <a:rPr sz="1400" dirty="0"/>
              <a:t>AI proposes structured results  →  application state machine validates  →  database records the event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4348" y="365760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8BB5"/>
                </a:solidFill>
                <a:latin typeface="Aptos"/>
              </a:defRPr>
            </a:pPr>
            <a:r>
              <a:rPr sz="1400" dirty="0"/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241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Georgia"/>
              </a:defRPr>
            </a:pPr>
            <a:r>
              <a:rPr sz="3200" dirty="0"/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722376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8C1CD"/>
                </a:solidFill>
                <a:latin typeface="Aptos"/>
              </a:defRPr>
            </a:pPr>
            <a:r>
              <a:rPr sz="1600" dirty="0"/>
              <a:t>Lightweight for the MVP, modular enough to evolve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AAB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91840" cy="155448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4592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FRONTEND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2103120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C3CF"/>
                </a:solidFill>
                <a:latin typeface="Aptos"/>
              </a:defRPr>
            </a:pPr>
            <a:r>
              <a:rPr sz="1400" dirty="0"/>
              <a:t>React • Vite • TypeScript</a:t>
            </a:r>
            <a:br>
              <a:rPr sz="1400" dirty="0"/>
            </a:br>
            <a:r>
              <a:rPr sz="1400" dirty="0"/>
              <a:t>Tailwind •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291840" cy="155448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64592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BACKEND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590288" y="2103120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C3CF"/>
                </a:solidFill>
                <a:latin typeface="Aptos"/>
              </a:defRPr>
            </a:pPr>
            <a:r>
              <a:rPr sz="1400" dirty="0"/>
              <a:t>Node.js • Express • TypeScript</a:t>
            </a:r>
            <a:br>
              <a:rPr sz="1400" dirty="0"/>
            </a:br>
            <a:r>
              <a:rPr sz="1400" dirty="0"/>
              <a:t>REST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417320"/>
            <a:ext cx="3291840" cy="155448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7" y="164592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DATA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339327" y="2103120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C3CF"/>
                </a:solidFill>
                <a:latin typeface="Aptos"/>
              </a:defRPr>
            </a:pPr>
            <a:r>
              <a:rPr sz="1400" dirty="0" err="1"/>
              <a:t>Supabase</a:t>
            </a:r>
            <a:r>
              <a:rPr sz="1400" dirty="0"/>
              <a:t> • PostgreSQL</a:t>
            </a:r>
            <a:br>
              <a:rPr sz="1400" dirty="0"/>
            </a:br>
            <a:r>
              <a:rPr sz="1400" dirty="0"/>
              <a:t>Auth • RLS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9000"/>
            <a:ext cx="3291840" cy="155448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65760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AI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41247" y="4114800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C3CF"/>
                </a:solidFill>
                <a:latin typeface="Aptos"/>
              </a:defRPr>
            </a:pPr>
            <a:r>
              <a:rPr sz="1400" dirty="0"/>
              <a:t>Gemini API</a:t>
            </a:r>
            <a:br>
              <a:rPr sz="1400" dirty="0"/>
            </a:br>
            <a:r>
              <a:rPr sz="1400" dirty="0"/>
              <a:t>Vision + NLU • Structured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429000"/>
            <a:ext cx="3291840" cy="155448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365760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MEDIA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590288" y="4114800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C3CF"/>
                </a:solidFill>
                <a:latin typeface="Aptos"/>
              </a:defRPr>
            </a:pPr>
            <a:r>
              <a:rPr sz="1400" dirty="0" err="1"/>
              <a:t>Cloudinary</a:t>
            </a:r>
            <a:br>
              <a:rPr sz="1400" dirty="0"/>
            </a:br>
            <a:r>
              <a:rPr sz="1400" dirty="0"/>
              <a:t>Medicine + profile images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3429000"/>
            <a:ext cx="3291840" cy="155448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7" y="365760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DELIVERY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339327" y="4114800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C3CF"/>
                </a:solidFill>
                <a:latin typeface="Aptos"/>
              </a:defRPr>
            </a:pPr>
            <a:r>
              <a:rPr sz="1400" dirty="0"/>
              <a:t>GitHub • </a:t>
            </a:r>
            <a:r>
              <a:rPr sz="1400" dirty="0" err="1"/>
              <a:t>Vercel</a:t>
            </a:r>
            <a:br>
              <a:rPr sz="1400" dirty="0"/>
            </a:br>
            <a:r>
              <a:rPr sz="1400" dirty="0"/>
              <a:t>Backend hosting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23560"/>
            <a:ext cx="1078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DEEF"/>
                </a:solidFill>
                <a:latin typeface="Georgia"/>
              </a:defRPr>
            </a:pPr>
            <a:r>
              <a:rPr sz="1600" dirty="0"/>
              <a:t>Principle: use AI where ambiguity exists; use deterministic software where correctness matters.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402335"/>
            <a:ext cx="45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rPr sz="1600" dirty="0"/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779" y="280672"/>
            <a:ext cx="110681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1C22"/>
                </a:solidFill>
                <a:latin typeface="Georgia"/>
              </a:defRPr>
            </a:pPr>
            <a:r>
              <a:rPr sz="2800" dirty="0"/>
              <a:t>Backend approach: deterministic orchestration around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722376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565F"/>
                </a:solidFill>
                <a:latin typeface="Aptos"/>
              </a:defRPr>
            </a:pPr>
            <a:r>
              <a:rPr sz="1600" dirty="0"/>
              <a:t>Backend owns business rules, security, event state and integrations.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92824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6629400" cy="452628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1554480"/>
            <a:ext cx="329184" cy="32918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563624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572768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REQUEST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2395728" y="1554480"/>
            <a:ext cx="438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5B565F"/>
                </a:solidFill>
                <a:latin typeface="Aptos"/>
              </a:defRPr>
            </a:pPr>
            <a:r>
              <a:rPr sz="1400" dirty="0"/>
              <a:t>Authenticated REST action enters the system.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2221991"/>
            <a:ext cx="329184" cy="32918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231135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40279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VALIDATE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2395728" y="2221991"/>
            <a:ext cx="438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5B565F"/>
                </a:solidFill>
                <a:latin typeface="Aptos"/>
              </a:defRPr>
            </a:pPr>
            <a:r>
              <a:rPr sz="1400" dirty="0"/>
              <a:t>Schema + authorization + medication context.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2889504"/>
            <a:ext cx="329184" cy="32918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2898648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907792"/>
            <a:ext cx="1505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ORCHESTRATE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2739857" y="2980051"/>
            <a:ext cx="4389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5B565F"/>
                </a:solidFill>
                <a:latin typeface="Aptos"/>
              </a:defRPr>
            </a:pPr>
            <a:r>
              <a:rPr sz="1200" dirty="0"/>
              <a:t>State machine decides the next permitted step.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3557015"/>
            <a:ext cx="329184" cy="32918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3566159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575303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AI 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3557015"/>
            <a:ext cx="438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5B565F"/>
                </a:solidFill>
                <a:latin typeface="Aptos"/>
              </a:defRPr>
            </a:pPr>
            <a:r>
              <a:rPr sz="1400" dirty="0"/>
              <a:t>Only when voice/image understanding is needed.</a:t>
            </a:r>
          </a:p>
        </p:txBody>
      </p:sp>
      <p:sp>
        <p:nvSpPr>
          <p:cNvPr id="24" name="Oval 23"/>
          <p:cNvSpPr/>
          <p:nvPr/>
        </p:nvSpPr>
        <p:spPr>
          <a:xfrm>
            <a:off x="841248" y="4224528"/>
            <a:ext cx="329184" cy="32918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4233672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242816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DECIDE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2395728" y="4224528"/>
            <a:ext cx="438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5B565F"/>
                </a:solidFill>
                <a:latin typeface="Aptos"/>
              </a:defRPr>
            </a:pPr>
            <a:r>
              <a:rPr sz="1400" dirty="0"/>
              <a:t>Normalize result: Correct / Wrong / Uncertain / Intent</a:t>
            </a:r>
            <a:r>
              <a:rPr sz="1100" dirty="0"/>
              <a:t>.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" y="4892040"/>
            <a:ext cx="329184" cy="32918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4901183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910327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COMMIT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2395728" y="4892040"/>
            <a:ext cx="438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5B565F"/>
                </a:solidFill>
                <a:latin typeface="Aptos"/>
              </a:defRPr>
            </a:pPr>
            <a:r>
              <a:rPr sz="1400" dirty="0"/>
              <a:t>Write event/log/alert; return next action</a:t>
            </a:r>
            <a:r>
              <a:rPr dirty="0"/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444752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23471"/>
                </a:solidFill>
                <a:latin typeface="Aptos"/>
              </a:defRPr>
            </a:pPr>
            <a:r>
              <a:rPr sz="1600" dirty="0"/>
              <a:t>NON-NEGOTIABLES</a:t>
            </a:r>
          </a:p>
        </p:txBody>
      </p:sp>
      <p:sp>
        <p:nvSpPr>
          <p:cNvPr id="33" name="Oval 32"/>
          <p:cNvSpPr/>
          <p:nvPr/>
        </p:nvSpPr>
        <p:spPr>
          <a:xfrm>
            <a:off x="7635240" y="1874519"/>
            <a:ext cx="100584" cy="10058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45552" y="1847088"/>
            <a:ext cx="3246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565F"/>
                </a:solidFill>
                <a:latin typeface="Aptos"/>
              </a:defRPr>
            </a:pPr>
            <a:r>
              <a:rPr sz="1200" dirty="0"/>
              <a:t>Dosage is caregiver-configured—not invented by AI.</a:t>
            </a:r>
          </a:p>
        </p:txBody>
      </p:sp>
      <p:sp>
        <p:nvSpPr>
          <p:cNvPr id="35" name="Oval 34"/>
          <p:cNvSpPr/>
          <p:nvPr/>
        </p:nvSpPr>
        <p:spPr>
          <a:xfrm>
            <a:off x="7635240" y="2569463"/>
            <a:ext cx="100584" cy="10058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45552" y="2542032"/>
            <a:ext cx="3246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565F"/>
                </a:solidFill>
                <a:latin typeface="Aptos"/>
              </a:defRPr>
            </a:pPr>
            <a:r>
              <a:rPr sz="1200" dirty="0"/>
              <a:t>AI never directly mutates medication state.</a:t>
            </a:r>
          </a:p>
        </p:txBody>
      </p:sp>
      <p:sp>
        <p:nvSpPr>
          <p:cNvPr id="37" name="Oval 36"/>
          <p:cNvSpPr/>
          <p:nvPr/>
        </p:nvSpPr>
        <p:spPr>
          <a:xfrm>
            <a:off x="7635240" y="3264408"/>
            <a:ext cx="100584" cy="10058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45552" y="3236976"/>
            <a:ext cx="3246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565F"/>
                </a:solidFill>
                <a:latin typeface="Aptos"/>
              </a:defRPr>
            </a:pPr>
            <a:r>
              <a:rPr sz="1200" dirty="0"/>
              <a:t>Uncertain verification stops, retries, or escalates.</a:t>
            </a:r>
          </a:p>
        </p:txBody>
      </p:sp>
      <p:sp>
        <p:nvSpPr>
          <p:cNvPr id="39" name="Oval 38"/>
          <p:cNvSpPr/>
          <p:nvPr/>
        </p:nvSpPr>
        <p:spPr>
          <a:xfrm>
            <a:off x="7635240" y="3959352"/>
            <a:ext cx="100584" cy="10058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45552" y="3931920"/>
            <a:ext cx="3246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565F"/>
                </a:solidFill>
                <a:latin typeface="Aptos"/>
              </a:defRPr>
            </a:pPr>
            <a:r>
              <a:rPr sz="1200" dirty="0"/>
              <a:t>Secrets and privileged DB access stay server-side.</a:t>
            </a:r>
          </a:p>
        </p:txBody>
      </p:sp>
      <p:sp>
        <p:nvSpPr>
          <p:cNvPr id="41" name="Oval 40"/>
          <p:cNvSpPr/>
          <p:nvPr/>
        </p:nvSpPr>
        <p:spPr>
          <a:xfrm>
            <a:off x="7635240" y="4654296"/>
            <a:ext cx="100584" cy="10058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45552" y="4626864"/>
            <a:ext cx="3246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565F"/>
                </a:solidFill>
                <a:latin typeface="Aptos"/>
              </a:defRPr>
            </a:pPr>
            <a:r>
              <a:rPr sz="1200" dirty="0"/>
              <a:t>Idempotent events prevent duplicate dose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8BB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241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Georgia"/>
              </a:defRPr>
            </a:pPr>
            <a:r>
              <a:rPr sz="3200" dirty="0"/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722376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8C1CD"/>
                </a:solidFill>
                <a:latin typeface="Aptos"/>
              </a:defRPr>
            </a:pPr>
            <a:r>
              <a:rPr sz="1400" dirty="0"/>
              <a:t>PostgreSQL models medication relationships as connected data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AAB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103120" cy="1325880"/>
          </a:xfrm>
          <a:prstGeom prst="roundRect">
            <a:avLst/>
          </a:prstGeom>
          <a:solidFill>
            <a:srgbClr val="2B2730"/>
          </a:solidFill>
          <a:ln>
            <a:solidFill>
              <a:srgbClr val="53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400" dirty="0"/>
              <a:t>caregivers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/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75104"/>
            <a:ext cx="1828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50" dirty="0"/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/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2257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 err="1"/>
              <a:t>auth_user_id</a:t>
            </a:r>
            <a:endParaRPr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3017520" y="1325880"/>
            <a:ext cx="2103120" cy="1325880"/>
          </a:xfrm>
          <a:prstGeom prst="roundRect">
            <a:avLst/>
          </a:prstGeom>
          <a:solidFill>
            <a:srgbClr val="2B2730"/>
          </a:solidFill>
          <a:ln>
            <a:solidFill>
              <a:srgbClr val="53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79" y="1463039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400" dirty="0"/>
              <a:t>patients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154679" y="1801368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/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1975104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/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79" y="2148840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/>
              <a:t>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79" y="232257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 err="1"/>
              <a:t>photo_url</a:t>
            </a:r>
            <a:endParaRPr sz="1000" dirty="0"/>
          </a:p>
        </p:txBody>
      </p:sp>
      <p:sp>
        <p:nvSpPr>
          <p:cNvPr id="18" name="Rounded Rectangle 17"/>
          <p:cNvSpPr/>
          <p:nvPr/>
        </p:nvSpPr>
        <p:spPr>
          <a:xfrm>
            <a:off x="5532120" y="1325880"/>
            <a:ext cx="2103120" cy="1325880"/>
          </a:xfrm>
          <a:prstGeom prst="roundRect">
            <a:avLst/>
          </a:prstGeom>
          <a:solidFill>
            <a:srgbClr val="2B2730"/>
          </a:solidFill>
          <a:ln>
            <a:solidFill>
              <a:srgbClr val="53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0" y="1463039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400" dirty="0" err="1"/>
              <a:t>caregiver_patient</a:t>
            </a:r>
            <a:endParaRPr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5669280" y="1801368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 err="1"/>
              <a:t>caregiver_id</a:t>
            </a:r>
            <a:endParaRPr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5669280" y="1975104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 err="1"/>
              <a:t>patient_id</a:t>
            </a:r>
            <a:endParaRPr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669280" y="2148840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/>
              <a:t>role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325880"/>
            <a:ext cx="2103120" cy="1325880"/>
          </a:xfrm>
          <a:prstGeom prst="roundRect">
            <a:avLst/>
          </a:prstGeom>
          <a:solidFill>
            <a:srgbClr val="2B2730"/>
          </a:solidFill>
          <a:ln>
            <a:solidFill>
              <a:srgbClr val="53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80" y="1463039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400" dirty="0"/>
              <a:t>medicines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183880" y="1801368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/>
              <a:t>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1975104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 err="1"/>
              <a:t>patient_id</a:t>
            </a:r>
            <a:endParaRPr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8183880" y="2148840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/>
              <a:t>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32257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 err="1"/>
              <a:t>reference_image</a:t>
            </a:r>
            <a:endParaRPr sz="1000" dirty="0"/>
          </a:p>
        </p:txBody>
      </p:sp>
      <p:sp>
        <p:nvSpPr>
          <p:cNvPr id="29" name="Rounded Rectangle 28"/>
          <p:cNvSpPr/>
          <p:nvPr/>
        </p:nvSpPr>
        <p:spPr>
          <a:xfrm>
            <a:off x="1737360" y="3246120"/>
            <a:ext cx="2103120" cy="1325880"/>
          </a:xfrm>
          <a:prstGeom prst="roundRect">
            <a:avLst/>
          </a:prstGeom>
          <a:solidFill>
            <a:srgbClr val="2B2730"/>
          </a:solidFill>
          <a:ln>
            <a:solidFill>
              <a:srgbClr val="53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74519" y="3383279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400" dirty="0"/>
              <a:t>schedules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1874519" y="3721608"/>
            <a:ext cx="1828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50" dirty="0" err="1"/>
              <a:t>medicine_id</a:t>
            </a:r>
            <a:endParaRPr sz="1050" dirty="0"/>
          </a:p>
        </p:txBody>
      </p:sp>
      <p:sp>
        <p:nvSpPr>
          <p:cNvPr id="32" name="TextBox 31"/>
          <p:cNvSpPr txBox="1"/>
          <p:nvPr/>
        </p:nvSpPr>
        <p:spPr>
          <a:xfrm>
            <a:off x="1874519" y="3895344"/>
            <a:ext cx="1828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50" dirty="0"/>
              <a:t>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069080"/>
            <a:ext cx="1828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50" dirty="0"/>
              <a:t>frequency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4242816"/>
            <a:ext cx="1828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 err="1"/>
              <a:t>meal_relation</a:t>
            </a:r>
            <a:endParaRPr sz="1000" dirty="0"/>
          </a:p>
        </p:txBody>
      </p:sp>
      <p:sp>
        <p:nvSpPr>
          <p:cNvPr id="35" name="Rounded Rectangle 34"/>
          <p:cNvSpPr/>
          <p:nvPr/>
        </p:nvSpPr>
        <p:spPr>
          <a:xfrm>
            <a:off x="4251960" y="3246120"/>
            <a:ext cx="2103120" cy="1325880"/>
          </a:xfrm>
          <a:prstGeom prst="roundRect">
            <a:avLst/>
          </a:prstGeom>
          <a:solidFill>
            <a:srgbClr val="2B2730"/>
          </a:solidFill>
          <a:ln>
            <a:solidFill>
              <a:srgbClr val="53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0" y="3383279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200" dirty="0" err="1"/>
              <a:t>medication</a:t>
            </a:r>
            <a:r>
              <a:rPr sz="1100" dirty="0" err="1"/>
              <a:t>_events</a:t>
            </a:r>
            <a:endParaRPr sz="1100" dirty="0"/>
          </a:p>
        </p:txBody>
      </p:sp>
      <p:sp>
        <p:nvSpPr>
          <p:cNvPr id="37" name="TextBox 36"/>
          <p:cNvSpPr txBox="1"/>
          <p:nvPr/>
        </p:nvSpPr>
        <p:spPr>
          <a:xfrm>
            <a:off x="4389120" y="3721608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 err="1"/>
              <a:t>schedule_id</a:t>
            </a:r>
            <a:endParaRPr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4389120" y="3895344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/>
              <a:t>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069080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 err="1"/>
              <a:t>taken_at</a:t>
            </a:r>
            <a:endParaRPr sz="1000" dirty="0"/>
          </a:p>
        </p:txBody>
      </p:sp>
      <p:sp>
        <p:nvSpPr>
          <p:cNvPr id="40" name="TextBox 39"/>
          <p:cNvSpPr txBox="1"/>
          <p:nvPr/>
        </p:nvSpPr>
        <p:spPr>
          <a:xfrm>
            <a:off x="4389120" y="424281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/>
              <a:t>verification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3246120"/>
            <a:ext cx="2103120" cy="1325880"/>
          </a:xfrm>
          <a:prstGeom prst="roundRect">
            <a:avLst/>
          </a:prstGeom>
          <a:solidFill>
            <a:srgbClr val="2B2730"/>
          </a:solidFill>
          <a:ln>
            <a:solidFill>
              <a:srgbClr val="53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03720" y="3383279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400" dirty="0"/>
              <a:t>alerts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6903720" y="3721608"/>
            <a:ext cx="1828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50" dirty="0" err="1"/>
              <a:t>patient_id</a:t>
            </a:r>
            <a:endParaRPr sz="1050" dirty="0"/>
          </a:p>
        </p:txBody>
      </p:sp>
      <p:sp>
        <p:nvSpPr>
          <p:cNvPr id="44" name="TextBox 43"/>
          <p:cNvSpPr txBox="1"/>
          <p:nvPr/>
        </p:nvSpPr>
        <p:spPr>
          <a:xfrm>
            <a:off x="6903720" y="3895344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 err="1"/>
              <a:t>event_id</a:t>
            </a:r>
            <a:endParaRPr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6903720" y="4069080"/>
            <a:ext cx="1828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50" dirty="0"/>
              <a:t>type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424281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C4BCCA"/>
                </a:solidFill>
                <a:latin typeface="Aptos"/>
              </a:defRPr>
            </a:pPr>
            <a:r>
              <a:rPr sz="1000" dirty="0" err="1"/>
              <a:t>read_at</a:t>
            </a:r>
            <a:endParaRPr sz="1000" dirty="0"/>
          </a:p>
        </p:txBody>
      </p:sp>
      <p:sp>
        <p:nvSpPr>
          <p:cNvPr id="47" name="Rounded Rectangle 46"/>
          <p:cNvSpPr/>
          <p:nvPr/>
        </p:nvSpPr>
        <p:spPr>
          <a:xfrm>
            <a:off x="640080" y="5166360"/>
            <a:ext cx="10835640" cy="530352"/>
          </a:xfrm>
          <a:prstGeom prst="roundRect">
            <a:avLst/>
          </a:prstGeom>
          <a:solidFill>
            <a:srgbClr val="714F91"/>
          </a:solidFill>
          <a:ln>
            <a:solidFill>
              <a:srgbClr val="71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5303520"/>
            <a:ext cx="10469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400" dirty="0" err="1"/>
              <a:t>Supabase</a:t>
            </a:r>
            <a:r>
              <a:rPr sz="1400" dirty="0"/>
              <a:t> Auth + PostgreSQL RLS  •  caregiver/patient relationships define access to patient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2683" y="370332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08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241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1C22"/>
                </a:solidFill>
                <a:latin typeface="Georgia"/>
              </a:defRPr>
            </a:pPr>
            <a:r>
              <a:rPr sz="3200" dirty="0"/>
              <a:t>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722376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565F"/>
                </a:solidFill>
                <a:latin typeface="Aptos"/>
              </a:defRPr>
            </a:pPr>
            <a:r>
              <a:rPr sz="1600" dirty="0"/>
              <a:t>Small, purpose-driven endpoints keep the client simple and the backend auditable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92824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310128" cy="150876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rPr dirty="0"/>
              <a:t>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0" b="0">
                <a:solidFill>
                  <a:srgbClr val="5B565F"/>
                </a:solidFill>
                <a:latin typeface="Aptos"/>
              </a:defRPr>
            </a:pPr>
            <a:r>
              <a:t>POST /auth/register</a:t>
            </a:r>
            <a:br/>
            <a:r>
              <a:t>POST /auth/login</a:t>
            </a:r>
            <a:br/>
            <a:r>
              <a:t>GET /me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310128" cy="150876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60020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t>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84248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0" b="0">
                <a:solidFill>
                  <a:srgbClr val="5B565F"/>
                </a:solidFill>
                <a:latin typeface="Aptos"/>
              </a:defRPr>
            </a:pPr>
            <a:r>
              <a:t>POST /patients</a:t>
            </a:r>
            <a:br/>
            <a:r>
              <a:t>GET /patients/:id</a:t>
            </a:r>
            <a:br/>
            <a:r>
              <a:t>PATCH /patients/:id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310128" cy="150876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19" y="160020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t>MEDICINES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984248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0" b="0">
                <a:solidFill>
                  <a:srgbClr val="5B565F"/>
                </a:solidFill>
                <a:latin typeface="Aptos"/>
              </a:defRPr>
            </a:pPr>
            <a:r>
              <a:t>POST /medicines</a:t>
            </a:r>
            <a:br/>
            <a:r>
              <a:t>GET /medicines/:id</a:t>
            </a:r>
            <a:br/>
            <a:r>
              <a:t>PATCH /medicines/:id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55848"/>
            <a:ext cx="3310128" cy="150876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5387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t>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22776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0" b="0">
                <a:solidFill>
                  <a:srgbClr val="5B565F"/>
                </a:solidFill>
                <a:latin typeface="Aptos"/>
              </a:defRPr>
            </a:pPr>
            <a:r>
              <a:t>GET /events/today</a:t>
            </a:r>
            <a:br/>
            <a:r>
              <a:t>POST /events/:id/verify</a:t>
            </a:r>
            <a:br/>
            <a:r>
              <a:t>POST /events/:id/confirm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355848"/>
            <a:ext cx="3310128" cy="150876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80" y="35387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t>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922776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0" b="0">
                <a:solidFill>
                  <a:srgbClr val="5B565F"/>
                </a:solidFill>
                <a:latin typeface="Aptos"/>
              </a:defRPr>
            </a:pPr>
            <a:r>
              <a:t>GET /alerts</a:t>
            </a:r>
            <a:br/>
            <a:r>
              <a:t>POST /alerts/:id/read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355848"/>
            <a:ext cx="3310128" cy="150876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19" y="35387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3922776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0" b="0">
                <a:solidFill>
                  <a:srgbClr val="5B565F"/>
                </a:solidFill>
                <a:latin typeface="Aptos"/>
              </a:defRPr>
            </a:pPr>
            <a:r>
              <a:t>POST /ai/understand</a:t>
            </a:r>
            <a:br/>
            <a:r>
              <a:t>POST /ai/verify-medicine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532120"/>
            <a:ext cx="9784080" cy="502920"/>
          </a:xfrm>
          <a:prstGeom prst="roundRect">
            <a:avLst/>
          </a:prstGeom>
          <a:solidFill>
            <a:srgbClr val="E7DEEF"/>
          </a:solidFill>
          <a:ln>
            <a:solidFill>
              <a:srgbClr val="E7D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71600" y="5650992"/>
            <a:ext cx="9418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JWT-authenticated • validate at the boundary • consistent success/error response shape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347585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8BB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241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Georgia"/>
              </a:defRPr>
            </a:pPr>
            <a:r>
              <a:rPr sz="2800" dirty="0"/>
              <a:t>Automation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722376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8C1CD"/>
                </a:solidFill>
                <a:latin typeface="Aptos"/>
              </a:defRPr>
            </a:pPr>
            <a:r>
              <a:rPr sz="1600" dirty="0"/>
              <a:t>Act at the right moment so the patient does not have to remember the system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AAB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353312"/>
            <a:ext cx="530352" cy="53035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62456"/>
            <a:ext cx="530352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T−30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80744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MEAL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135331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CAC3CF"/>
                </a:solidFill>
                <a:latin typeface="Aptos"/>
              </a:defRPr>
            </a:pPr>
            <a:r>
              <a:t>If food-dependent, prompt the patient to prepare for the meal.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194560"/>
            <a:ext cx="530352" cy="53035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3"/>
            <a:ext cx="530352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21991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DOSE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1945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CAC3CF"/>
                </a:solidFill>
                <a:latin typeface="Aptos"/>
              </a:defRPr>
            </a:pPr>
            <a:r>
              <a:t>Ask naturally: “Have you finished breakfast?”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035808"/>
            <a:ext cx="530352" cy="53035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044952"/>
            <a:ext cx="530352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632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303580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CAC3CF"/>
                </a:solidFill>
                <a:latin typeface="Aptos"/>
              </a:defRPr>
            </a:pPr>
            <a:r>
              <a:t>Request medicine/tablet image; compare with caregiver reference.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877056"/>
            <a:ext cx="530352" cy="53035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530352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FOLLOW-UP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0448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NO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3877056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CAC3CF"/>
                </a:solidFill>
                <a:latin typeface="Aptos"/>
              </a:defRPr>
            </a:pPr>
            <a:r>
              <a:t>Retry after the configured interval; escalate repeated uncertainty.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718304"/>
            <a:ext cx="530352" cy="53035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727448"/>
            <a:ext cx="530352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MISSED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4573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CAREGIVER 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4718304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CAC3CF"/>
                </a:solidFill>
                <a:latin typeface="Aptos"/>
              </a:defRPr>
            </a:pPr>
            <a:r>
              <a:t>Create an alert when a dose is missed or needs attention.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57400" y="5532120"/>
            <a:ext cx="8092440" cy="502920"/>
          </a:xfrm>
          <a:prstGeom prst="roundRect">
            <a:avLst/>
          </a:prstGeom>
          <a:solidFill>
            <a:srgbClr val="714F91"/>
          </a:solidFill>
          <a:ln>
            <a:solidFill>
              <a:srgbClr val="71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40280" y="5641848"/>
            <a:ext cx="7726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Goal: reduce repeated manual checking while keeping humans in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1C22"/>
                </a:solidFill>
                <a:latin typeface="Georgia"/>
              </a:defRPr>
            </a:pPr>
            <a:r>
              <a:t>AI integration: useful, bounded,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722376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565F"/>
                </a:solidFill>
                <a:latin typeface="Aptos"/>
              </a:defRPr>
            </a:pPr>
            <a:r>
              <a:rPr sz="1400" dirty="0"/>
              <a:t>Gemini handles perception and language; the application remains the source of truth.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92824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401568" cy="338328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23471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F1C22"/>
                </a:solidFill>
                <a:latin typeface="Georgia"/>
              </a:defRPr>
            </a:pPr>
            <a:r>
              <a:t>Medicine cover / tablet image</a:t>
            </a:r>
            <a:br/>
            <a:r>
              <a:t>↓</a:t>
            </a:r>
            <a:br/>
            <a:r>
              <a:t>Reference comparison</a:t>
            </a:r>
            <a:br/>
            <a:r>
              <a:t>↓</a:t>
            </a:r>
            <a:br/>
            <a:r>
              <a:t>Correct / Wrong / Uncertain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401568" cy="338328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23471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3317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F1C22"/>
                </a:solidFill>
                <a:latin typeface="Georgia"/>
              </a:defRPr>
            </a:pPr>
            <a:r>
              <a:t>“yes, I ate” / “not yet” / “I took it”</a:t>
            </a:r>
            <a:br/>
            <a:r>
              <a:t>↓</a:t>
            </a:r>
            <a:br/>
            <a:r>
              <a:t>Intent +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401568" cy="3383280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6916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23471"/>
                </a:solidFill>
                <a:latin typeface="Aptos"/>
              </a:defRPr>
            </a:pPr>
            <a:r>
              <a:t>STRUCTURED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3317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F1C22"/>
                </a:solidFill>
                <a:latin typeface="Georgia"/>
              </a:defRPr>
            </a:pPr>
            <a:r>
              <a:t>Schema-bound JSON</a:t>
            </a:r>
            <a:br/>
            <a:r>
              <a:t>↓</a:t>
            </a:r>
            <a:br/>
            <a:r>
              <a:t>Backend validation</a:t>
            </a:r>
            <a:br/>
            <a:r>
              <a:t>↓</a:t>
            </a:r>
            <a:br/>
            <a:r>
              <a:t>State-machine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5257800"/>
            <a:ext cx="10287000" cy="640080"/>
          </a:xfrm>
          <a:prstGeom prst="roundRect">
            <a:avLst/>
          </a:prstGeom>
          <a:solidFill>
            <a:srgbClr val="523471"/>
          </a:solidFill>
          <a:ln>
            <a:solidFill>
              <a:srgbClr val="5234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5394960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SAFETY BOUNDARY  •  AI cannot prescribe, change dosage, or silently mark a dose as taken.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8BB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Georgia"/>
              </a:defRPr>
            </a:pPr>
            <a:r>
              <a:t>Scalability &amp; deployment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722376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8C1CD"/>
                </a:solidFill>
                <a:latin typeface="Aptos"/>
              </a:defRPr>
            </a:pPr>
            <a:r>
              <a:rPr sz="1400" dirty="0"/>
              <a:t>Start as a modular monolith; scale the bottlenecks independently as usage grows.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AAB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E7DEEF"/>
                </a:solidFill>
                <a:latin typeface="Aptos"/>
              </a:defRPr>
            </a:pPr>
            <a:r>
              <a:rPr sz="1600" dirty="0"/>
              <a:t>MVP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3154680" cy="242316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011680"/>
            <a:ext cx="164592" cy="16459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2082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993392"/>
            <a:ext cx="2331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050" dirty="0" err="1"/>
              <a:t>Vercel</a:t>
            </a:r>
            <a:r>
              <a:rPr sz="1050" dirty="0"/>
              <a:t> frontend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423160"/>
            <a:ext cx="164592" cy="16459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43230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404872"/>
            <a:ext cx="2331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000" dirty="0"/>
              <a:t>Node/Express API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834640"/>
            <a:ext cx="164592" cy="16459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84378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2816352"/>
            <a:ext cx="2331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100" dirty="0" err="1"/>
              <a:t>Supabase</a:t>
            </a:r>
            <a:r>
              <a:rPr sz="1100" dirty="0"/>
              <a:t> Postgres + Auth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246120"/>
            <a:ext cx="164592" cy="16459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25526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3227832"/>
            <a:ext cx="2331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050" dirty="0" err="1"/>
              <a:t>Cloudinary</a:t>
            </a:r>
            <a:r>
              <a:rPr sz="1050" dirty="0"/>
              <a:t> + 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132588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E7DEEF"/>
                </a:solidFill>
                <a:latin typeface="Aptos"/>
              </a:defRPr>
            </a:pPr>
            <a:r>
              <a:rPr sz="1600" dirty="0"/>
              <a:t>GROWTH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1719072"/>
            <a:ext cx="3154680" cy="242316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389120" y="2011680"/>
            <a:ext cx="164592" cy="16459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202082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1993392"/>
            <a:ext cx="2331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050" dirty="0"/>
              <a:t>Background job worker</a:t>
            </a:r>
          </a:p>
        </p:txBody>
      </p:sp>
      <p:sp>
        <p:nvSpPr>
          <p:cNvPr id="25" name="Oval 24"/>
          <p:cNvSpPr/>
          <p:nvPr/>
        </p:nvSpPr>
        <p:spPr>
          <a:xfrm>
            <a:off x="4389120" y="2423160"/>
            <a:ext cx="164592" cy="16459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0" y="243230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2404872"/>
            <a:ext cx="2331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050" dirty="0"/>
              <a:t>Queue scheduled events</a:t>
            </a:r>
          </a:p>
        </p:txBody>
      </p:sp>
      <p:sp>
        <p:nvSpPr>
          <p:cNvPr id="28" name="Oval 27"/>
          <p:cNvSpPr/>
          <p:nvPr/>
        </p:nvSpPr>
        <p:spPr>
          <a:xfrm>
            <a:off x="4389120" y="2834640"/>
            <a:ext cx="164592" cy="16459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284378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2816352"/>
            <a:ext cx="2331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000" dirty="0"/>
              <a:t>Cache read-heavy views</a:t>
            </a:r>
          </a:p>
        </p:txBody>
      </p:sp>
      <p:sp>
        <p:nvSpPr>
          <p:cNvPr id="31" name="Oval 30"/>
          <p:cNvSpPr/>
          <p:nvPr/>
        </p:nvSpPr>
        <p:spPr>
          <a:xfrm>
            <a:off x="4389120" y="3246120"/>
            <a:ext cx="164592" cy="16459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325526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3227832"/>
            <a:ext cx="2331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000" dirty="0"/>
              <a:t>Image CDN</a:t>
            </a:r>
          </a:p>
        </p:txBody>
      </p:sp>
      <p:sp>
        <p:nvSpPr>
          <p:cNvPr id="34" name="Oval 33"/>
          <p:cNvSpPr/>
          <p:nvPr/>
        </p:nvSpPr>
        <p:spPr>
          <a:xfrm>
            <a:off x="4389120" y="3657600"/>
            <a:ext cx="164592" cy="164592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0" y="366674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3639312"/>
            <a:ext cx="2331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000" dirty="0"/>
              <a:t>DB indexes + read scaling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132588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E7DEEF"/>
                </a:solidFill>
                <a:latin typeface="Aptos"/>
              </a:defRPr>
            </a:pPr>
            <a:r>
              <a:rPr sz="1400" dirty="0"/>
              <a:t>PRODUCTION GUARDRAILS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1719072"/>
            <a:ext cx="3154680" cy="2423160"/>
          </a:xfrm>
          <a:prstGeom prst="roundRect">
            <a:avLst/>
          </a:prstGeom>
          <a:solidFill>
            <a:srgbClr val="2B2730"/>
          </a:solidFill>
          <a:ln>
            <a:solidFill>
              <a:srgbClr val="52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909560" y="2011680"/>
            <a:ext cx="164592" cy="164592"/>
          </a:xfrm>
          <a:prstGeom prst="ellipse">
            <a:avLst/>
          </a:prstGeom>
          <a:solidFill>
            <a:srgbClr val="3DA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09560" y="202082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1993392"/>
            <a:ext cx="2331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000" dirty="0"/>
              <a:t>RLS + least privilege</a:t>
            </a:r>
          </a:p>
        </p:txBody>
      </p:sp>
      <p:sp>
        <p:nvSpPr>
          <p:cNvPr id="42" name="Oval 41"/>
          <p:cNvSpPr/>
          <p:nvPr/>
        </p:nvSpPr>
        <p:spPr>
          <a:xfrm>
            <a:off x="7909560" y="2423160"/>
            <a:ext cx="164592" cy="164592"/>
          </a:xfrm>
          <a:prstGeom prst="ellipse">
            <a:avLst/>
          </a:prstGeom>
          <a:solidFill>
            <a:srgbClr val="3DA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09560" y="243230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2168" y="2404872"/>
            <a:ext cx="2331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050" dirty="0"/>
              <a:t>Secrets only on server</a:t>
            </a:r>
          </a:p>
        </p:txBody>
      </p:sp>
      <p:sp>
        <p:nvSpPr>
          <p:cNvPr id="45" name="Oval 44"/>
          <p:cNvSpPr/>
          <p:nvPr/>
        </p:nvSpPr>
        <p:spPr>
          <a:xfrm>
            <a:off x="7909560" y="2834640"/>
            <a:ext cx="164592" cy="164592"/>
          </a:xfrm>
          <a:prstGeom prst="ellipse">
            <a:avLst/>
          </a:prstGeom>
          <a:solidFill>
            <a:srgbClr val="3DA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09560" y="284378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2168" y="2816352"/>
            <a:ext cx="2331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050" dirty="0"/>
              <a:t>Rate limits + audit logs</a:t>
            </a:r>
          </a:p>
        </p:txBody>
      </p:sp>
      <p:sp>
        <p:nvSpPr>
          <p:cNvPr id="48" name="Oval 47"/>
          <p:cNvSpPr/>
          <p:nvPr/>
        </p:nvSpPr>
        <p:spPr>
          <a:xfrm>
            <a:off x="7909560" y="3246120"/>
            <a:ext cx="164592" cy="164592"/>
          </a:xfrm>
          <a:prstGeom prst="ellipse">
            <a:avLst/>
          </a:prstGeom>
          <a:solidFill>
            <a:srgbClr val="3DA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09560" y="325526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02168" y="3227832"/>
            <a:ext cx="2331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050" dirty="0"/>
              <a:t>Retries + idempotency</a:t>
            </a:r>
          </a:p>
        </p:txBody>
      </p:sp>
      <p:sp>
        <p:nvSpPr>
          <p:cNvPr id="51" name="Oval 50"/>
          <p:cNvSpPr/>
          <p:nvPr/>
        </p:nvSpPr>
        <p:spPr>
          <a:xfrm>
            <a:off x="7909560" y="3657600"/>
            <a:ext cx="164592" cy="164592"/>
          </a:xfrm>
          <a:prstGeom prst="ellipse">
            <a:avLst/>
          </a:prstGeom>
          <a:solidFill>
            <a:srgbClr val="3DA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09560" y="3666744"/>
            <a:ext cx="1645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02168" y="3639312"/>
            <a:ext cx="2331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CAC3CF"/>
                </a:solidFill>
                <a:latin typeface="Aptos"/>
              </a:defRPr>
            </a:pPr>
            <a:r>
              <a:rPr sz="1050" dirty="0"/>
              <a:t>Monitoring + backups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43000" y="4663440"/>
            <a:ext cx="9875520" cy="658368"/>
          </a:xfrm>
          <a:prstGeom prst="roundRect">
            <a:avLst/>
          </a:prstGeom>
          <a:solidFill>
            <a:srgbClr val="714F91"/>
          </a:solidFill>
          <a:ln>
            <a:solidFill>
              <a:srgbClr val="71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371600" y="4828032"/>
            <a:ext cx="9418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Georgia"/>
              </a:defRPr>
            </a:pPr>
            <a:r>
              <a:rPr sz="1400" dirty="0"/>
              <a:t>Scale the workload, not the complexity: API → jobs → data → AI calls can evolve independently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4612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3471"/>
                </a:solidFill>
                <a:latin typeface="Aptos"/>
              </a:defRPr>
            </a:pPr>
            <a:r>
              <a:rPr sz="1200" dirty="0"/>
              <a:t>12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1C22"/>
                </a:solidFill>
                <a:latin typeface="Georgia"/>
              </a:defRPr>
            </a:pPr>
            <a:r>
              <a:t>The technical idea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722376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565F"/>
                </a:solidFill>
                <a:latin typeface="Aptos"/>
              </a:defRPr>
            </a:pPr>
            <a:r>
              <a:rPr sz="1600" dirty="0"/>
              <a:t>A human problem translated into a bounded, auditable software system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92824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65960" cy="1874519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52728" y="2084831"/>
            <a:ext cx="420624" cy="42062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724912"/>
            <a:ext cx="1627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090672"/>
            <a:ext cx="16276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565F"/>
                </a:solidFill>
                <a:latin typeface="Aptos"/>
              </a:defRPr>
            </a:pPr>
            <a:r>
              <a:rPr sz="1100" dirty="0"/>
              <a:t>speaks / shows medicine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542032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8BB5"/>
                </a:solidFill>
                <a:latin typeface="Georgia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1828800"/>
            <a:ext cx="1965960" cy="1874519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84447" y="2084831"/>
            <a:ext cx="420624" cy="42062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9232" y="2724912"/>
            <a:ext cx="16276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523471"/>
                </a:solidFill>
                <a:latin typeface="Aptos"/>
              </a:defRPr>
            </a:pPr>
            <a:r>
              <a:rPr sz="1600" dirty="0"/>
              <a:t>MEDSATHI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2999232" y="3090672"/>
            <a:ext cx="16276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565F"/>
                </a:solidFill>
                <a:latin typeface="Aptos"/>
              </a:defRPr>
            </a:pPr>
            <a:r>
              <a:rPr sz="1200" dirty="0"/>
              <a:t>understands / verifies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542032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8BB5"/>
                </a:solidFill>
                <a:latin typeface="Georgia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59" y="1828800"/>
            <a:ext cx="1965960" cy="1874519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16168" y="2084831"/>
            <a:ext cx="420624" cy="42062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30951" y="2724912"/>
            <a:ext cx="16276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523471"/>
                </a:solidFill>
                <a:latin typeface="Aptos"/>
              </a:defRPr>
            </a:pPr>
            <a:r>
              <a:rPr sz="1600" dirty="0"/>
              <a:t>STATE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1" y="3090672"/>
            <a:ext cx="16276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565F"/>
                </a:solidFill>
                <a:latin typeface="Aptos"/>
              </a:defRPr>
            </a:pPr>
            <a:r>
              <a:rPr sz="1100" dirty="0"/>
              <a:t>controls next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7" y="2542032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8BB5"/>
                </a:solidFill>
                <a:latin typeface="Georgia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828800"/>
            <a:ext cx="1965960" cy="1874519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47888" y="2084831"/>
            <a:ext cx="420624" cy="42062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62671" y="2724912"/>
            <a:ext cx="1627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523471"/>
                </a:solidFill>
                <a:latin typeface="Aptos"/>
              </a:defRPr>
            </a:pPr>
            <a:r>
              <a:rPr sz="1400" dirty="0"/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3090672"/>
            <a:ext cx="1627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565F"/>
                </a:solidFill>
                <a:latin typeface="Aptos"/>
              </a:defRPr>
            </a:pPr>
            <a:r>
              <a:rPr sz="1400" dirty="0"/>
              <a:t>records the 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2542032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8BB5"/>
                </a:solidFill>
                <a:latin typeface="Georgia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1828800"/>
            <a:ext cx="1965960" cy="1874519"/>
          </a:xfrm>
          <a:prstGeom prst="roundRect">
            <a:avLst/>
          </a:prstGeom>
          <a:solidFill>
            <a:srgbClr val="F8F5FA"/>
          </a:solidFill>
          <a:ln>
            <a:solidFill>
              <a:srgbClr val="E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579608" y="2084831"/>
            <a:ext cx="420624" cy="420624"/>
          </a:xfrm>
          <a:prstGeom prst="ellipse">
            <a:avLst/>
          </a:prstGeom>
          <a:solidFill>
            <a:srgbClr val="523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94392" y="2724912"/>
            <a:ext cx="16276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523471"/>
                </a:solidFill>
                <a:latin typeface="Aptos"/>
              </a:defRPr>
            </a:pPr>
            <a:r>
              <a:rPr sz="1200" dirty="0"/>
              <a:t>CAREGIVER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4392" y="3090672"/>
            <a:ext cx="1627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565F"/>
                </a:solidFill>
                <a:latin typeface="Aptos"/>
              </a:defRPr>
            </a:pPr>
            <a:r>
              <a:rPr sz="1200" dirty="0"/>
              <a:t>sees what needs attention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48056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523471"/>
                </a:solidFill>
                <a:latin typeface="Georgia"/>
              </a:defRPr>
            </a:pPr>
            <a:r>
              <a:t>Care that speaks. Confidence that stays.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074920"/>
            <a:ext cx="865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5B565F"/>
                </a:solidFill>
                <a:latin typeface="Aptos"/>
              </a:defRPr>
            </a:pPr>
            <a:r>
              <a:rPr sz="1600" dirty="0" err="1"/>
              <a:t>MedSathi</a:t>
            </a:r>
            <a:r>
              <a:rPr sz="1600" dirty="0"/>
              <a:t> extends caregiver presence—without giving AI authority over medication decisions.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63240" y="5715000"/>
            <a:ext cx="6080760" cy="457200"/>
          </a:xfrm>
          <a:prstGeom prst="roundRect">
            <a:avLst/>
          </a:prstGeom>
          <a:solidFill>
            <a:srgbClr val="523471"/>
          </a:solidFill>
          <a:ln>
            <a:solidFill>
              <a:srgbClr val="5234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46120" y="5815584"/>
            <a:ext cx="5715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1200" dirty="0"/>
              <a:t>ROUND 01  •  IDEATION &amp; INITIAL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1118</Words>
  <Application>Microsoft Office PowerPoint</Application>
  <PresentationFormat>Widescreen</PresentationFormat>
  <Paragraphs>251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Harika Bhashyam</dc:creator>
  <cp:keywords/>
  <dc:description>generated using python-pptx</dc:description>
  <cp:lastModifiedBy>Harika Bhashyam</cp:lastModifiedBy>
  <cp:revision>2</cp:revision>
  <dcterms:created xsi:type="dcterms:W3CDTF">2013-01-27T09:14:16Z</dcterms:created>
  <dcterms:modified xsi:type="dcterms:W3CDTF">2026-09-26T14:38:09Z</dcterms:modified>
  <cp:category/>
</cp:coreProperties>
</file>